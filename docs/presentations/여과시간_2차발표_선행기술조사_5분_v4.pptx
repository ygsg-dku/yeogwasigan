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48"/>
    <p:restoredTop sz="73961"/>
  </p:normalViewPr>
  <p:slideViewPr>
    <p:cSldViewPr snapToGrid="0" snapToObjects="1">
      <p:cViewPr varScale="1">
        <p:scale>
          <a:sx n="67" d="100"/>
          <a:sy n="67" d="100"/>
        </p:scale>
        <p:origin x="192" y="6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459923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1차 발표 후 교수님께서 기존 기술과 논문을 조사하고, 각 기술의 장단점과 우리 위치를 설명하라고 피드백을 주셨습니다. 조사 결과를 먼저 보여드리고, 앞으로의 계획을 말씀드리겠습니다. 오늘 핵심은 한 줄입니다 — 기존은 빼기, 저희는 담기입니다.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75초. 먼저 분명히 해두겠습니다. 담기가 불가능하다는 말이 아닙니다. Google Sensitive Data Protection은 필드별·조건별 변환을 제공하므로 필요한 것만 남기도록 구성할 수 있습니다. 다만 무엇을 남길지는 호출자가 정해야 한다고 공식 문서가 명시합니다. 저희가 채우려는 자리가 정확히 여기입니다. Presidio는 탐지·치환에 강하지만 무엇이 민감한지를 알 뿐, 이 업무에 무엇이 필요한지는 모릅니다. 공식 문서도 모든 민감정보를 찾는다고 보장하지 않습니다. Kong은 AI 호출 앞에서 PII를 치환하고 동일 값을 같은 placeholder로 바꿀 수 있지만(placeholder 모드 한정) 업무별 구분은 없습니다. 셋의 공통점은 빼기냐 담기냐가 아니라, 이 업무에 무엇을 담아야 하는지를 아무도 정해주지 않는다는 것입니다. 목적별 최소화 연구도 이미 있으니 새 개념을 주장하지는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90초. 왼쪽 그림이 오늘의 핵심입니다. 같은 로그 12개 필드를 예로 들면, 빼기 방식은 탐지한 것을 지우고 나머지를 보냅니다. 업무와 무관한 필드도 함께 나가고, 못 찾은 민감값도 따라갑니다. 담기 방식은 이번 업무에 필요한 것만 골라 담고, 사람이 그 내용을 확인한 뒤 보냅니다. 안 담은 것은 탐지 성공 여부와 무관하게 나가지 않습니다. 오른쪽이 중요합니다. 빼기는 실패하면 유출이고, 담기는 실패해도 답변이 부실해질 뿐입니다. 실패가 안전한 쪽으로 넘어집니다. 다만 담기에는 대가가 있습니다. 업무마다 목록을 만들고 관리해야 합니다. 아무도 담기를 기본값으로 쓰지 않는 이유가 이 비용일 수 있습니다. 저희 베팅은 장애마다 보는 정보가 비슷하다는 것이고, 그래서 목록 관리 비용이 감당된다는 것입니다. 칸 수는 설명용 예시이며 측정값이 아닙니다.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60초. 저희가 할 일은 두 가지입니다. 하나, 원인 분석과 보고서 초안 각각에 어떤 정보를 보낼지 목록을 정합니다. 둘, 그 목록에 있는 것만 AI에 넣어도 원인을 제대로 찾는지 재봅니다. 방법은 단순합니다. 같은 장애 로그를 둘로 나눠서, 하나는 다 보내고 하나는 목록대로만 보냅니다. 모델도 질문도 설정도 똑같이 두고 원인을 맞게 찾는지 비교합니다. 목록대로만 보내도 원인이 잡히면 줄여도 된다는 뜻이고, 안 잡히면 담기를 쓸 이유가 없습니다. 그 결과를 그대로 보고하겠습니다. 첫 목록은 공개된 장애 보고서와 저희 합성 로그를 근거로 정하고, 실무자 의견을 들을 기회가 생기면 그때 보강하겠습니다.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extBox 1"/>
          <p:cNvSpPr txBox="1"/>
          <p:nvPr/>
        </p:nvSpPr>
        <p:spPr>
          <a:xfrm>
            <a:off x="868680" y="1874519"/>
            <a:ext cx="10424160" cy="868680"/>
          </a:xfrm>
          <a:prstGeom prst="rect">
            <a:avLst/>
          </a:prstGeom>
          <a:noFill/>
        </p:spPr>
        <p:txBody>
          <a:bodyPr wrap="square" lIns="0" tIns="0" rIns="0" bIns="0" anchor="t">
            <a:spAutoFit/>
          </a:bodyPr>
          <a:lstStyle/>
          <a:p>
            <a:pPr algn="l"/>
            <a:r>
              <a:rPr sz="4600" b="1">
                <a:solidFill>
                  <a:srgbClr val="FFFFFF"/>
                </a:solidFill>
                <a:latin typeface="Arial Unicode MS"/>
              </a:rPr>
              <a:t>여과시간</a:t>
            </a:r>
          </a:p>
        </p:txBody>
      </p:sp>
      <p:sp>
        <p:nvSpPr>
          <p:cNvPr id="3" name="TextBox 2"/>
          <p:cNvSpPr txBox="1"/>
          <p:nvPr/>
        </p:nvSpPr>
        <p:spPr>
          <a:xfrm>
            <a:off x="868680" y="2816352"/>
            <a:ext cx="10424160" cy="457200"/>
          </a:xfrm>
          <a:prstGeom prst="rect">
            <a:avLst/>
          </a:prstGeom>
          <a:noFill/>
        </p:spPr>
        <p:txBody>
          <a:bodyPr wrap="square" lIns="0" tIns="0" rIns="0" bIns="0" anchor="t">
            <a:spAutoFit/>
          </a:bodyPr>
          <a:lstStyle/>
          <a:p>
            <a:pPr algn="l"/>
            <a:r>
              <a:rPr sz="1900" b="0">
                <a:solidFill>
                  <a:srgbClr val="9B9B9B"/>
                </a:solidFill>
                <a:latin typeface="Arial Unicode MS"/>
              </a:rPr>
              <a:t>기존 기술을 조사한 뒤, 무엇을 더 해야 하는가</a:t>
            </a:r>
          </a:p>
        </p:txBody>
      </p:sp>
      <p:sp>
        <p:nvSpPr>
          <p:cNvPr id="4" name="Rounded Rectangle 3"/>
          <p:cNvSpPr/>
          <p:nvPr/>
        </p:nvSpPr>
        <p:spPr>
          <a:xfrm>
            <a:off x="868680" y="3657600"/>
            <a:ext cx="4846320" cy="566928"/>
          </a:xfrm>
          <a:prstGeom prst="roundRect">
            <a:avLst/>
          </a:prstGeom>
          <a:no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97280" y="3657600"/>
            <a:ext cx="4617720" cy="566928"/>
          </a:xfrm>
          <a:prstGeom prst="rect">
            <a:avLst/>
          </a:prstGeom>
          <a:noFill/>
        </p:spPr>
        <p:txBody>
          <a:bodyPr wrap="square" lIns="0" tIns="0" rIns="0" bIns="0" anchor="ctr">
            <a:spAutoFit/>
          </a:bodyPr>
          <a:lstStyle/>
          <a:p>
            <a:pPr algn="l"/>
            <a:r>
              <a:rPr sz="1300" b="0">
                <a:solidFill>
                  <a:srgbClr val="9B9B9B"/>
                </a:solidFill>
                <a:latin typeface="Arial Unicode MS"/>
              </a:rPr>
              <a:t>기존   </a:t>
            </a:r>
            <a:r>
              <a:rPr sz="1500" b="1">
                <a:solidFill>
                  <a:srgbClr val="FFFFFF"/>
                </a:solidFill>
                <a:latin typeface="Arial Unicode MS"/>
              </a:rPr>
              <a:t>위험한 걸 빼고 보낸다</a:t>
            </a:r>
          </a:p>
        </p:txBody>
      </p:sp>
      <p:sp>
        <p:nvSpPr>
          <p:cNvPr id="6" name="TextBox 5"/>
          <p:cNvSpPr txBox="1"/>
          <p:nvPr/>
        </p:nvSpPr>
        <p:spPr>
          <a:xfrm>
            <a:off x="5760720" y="3657600"/>
            <a:ext cx="475488" cy="566928"/>
          </a:xfrm>
          <a:prstGeom prst="rect">
            <a:avLst/>
          </a:prstGeom>
          <a:noFill/>
        </p:spPr>
        <p:txBody>
          <a:bodyPr wrap="square" lIns="0" tIns="0" rIns="0" bIns="0" anchor="ctr">
            <a:spAutoFit/>
          </a:bodyPr>
          <a:lstStyle/>
          <a:p>
            <a:pPr algn="ctr"/>
            <a:r>
              <a:rPr sz="1900" b="0">
                <a:solidFill>
                  <a:srgbClr val="FFFFFF"/>
                </a:solidFill>
                <a:latin typeface="Arial Unicode MS"/>
              </a:rPr>
              <a:t>→</a:t>
            </a:r>
          </a:p>
        </p:txBody>
      </p:sp>
      <p:sp>
        <p:nvSpPr>
          <p:cNvPr id="7" name="Rounded Rectangle 6"/>
          <p:cNvSpPr/>
          <p:nvPr/>
        </p:nvSpPr>
        <p:spPr>
          <a:xfrm>
            <a:off x="6263640" y="3657600"/>
            <a:ext cx="5010912" cy="56692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92240" y="3657600"/>
            <a:ext cx="4553712" cy="566928"/>
          </a:xfrm>
          <a:prstGeom prst="rect">
            <a:avLst/>
          </a:prstGeom>
          <a:noFill/>
        </p:spPr>
        <p:txBody>
          <a:bodyPr wrap="square" lIns="0" tIns="0" rIns="0" bIns="0" anchor="ctr">
            <a:spAutoFit/>
          </a:bodyPr>
          <a:lstStyle/>
          <a:p>
            <a:pPr algn="l"/>
            <a:r>
              <a:rPr sz="1300" b="0">
                <a:solidFill>
                  <a:srgbClr val="707070"/>
                </a:solidFill>
                <a:latin typeface="Arial Unicode MS"/>
              </a:rPr>
              <a:t>여과시간   </a:t>
            </a:r>
            <a:r>
              <a:rPr sz="1500" b="1">
                <a:solidFill>
                  <a:srgbClr val="0A0A0A"/>
                </a:solidFill>
                <a:latin typeface="Arial Unicode MS"/>
              </a:rPr>
              <a:t>필요한 것만 담아 보낸다</a:t>
            </a:r>
          </a:p>
        </p:txBody>
      </p:sp>
      <p:sp>
        <p:nvSpPr>
          <p:cNvPr id="9" name="TextBox 8"/>
          <p:cNvSpPr txBox="1"/>
          <p:nvPr/>
        </p:nvSpPr>
        <p:spPr>
          <a:xfrm>
            <a:off x="868680" y="5120640"/>
            <a:ext cx="10424160" cy="329184"/>
          </a:xfrm>
          <a:prstGeom prst="rect">
            <a:avLst/>
          </a:prstGeom>
          <a:noFill/>
        </p:spPr>
        <p:txBody>
          <a:bodyPr wrap="square" lIns="0" tIns="0" rIns="0" bIns="0" anchor="t">
            <a:spAutoFit/>
          </a:bodyPr>
          <a:lstStyle/>
          <a:p>
            <a:pPr algn="l"/>
            <a:r>
              <a:rPr sz="1300" b="0">
                <a:solidFill>
                  <a:srgbClr val="707070"/>
                </a:solidFill>
                <a:latin typeface="Arial Unicode MS"/>
              </a:rPr>
              <a:t>선행기술 비교   ·   적용 범위   ·   남은 질문</a:t>
            </a:r>
          </a:p>
        </p:txBody>
      </p:sp>
      <p:sp>
        <p:nvSpPr>
          <p:cNvPr id="10" name="TextBox 9"/>
          <p:cNvSpPr txBox="1"/>
          <p:nvPr/>
        </p:nvSpPr>
        <p:spPr>
          <a:xfrm>
            <a:off x="868680" y="5806440"/>
            <a:ext cx="10424160" cy="329184"/>
          </a:xfrm>
          <a:prstGeom prst="rect">
            <a:avLst/>
          </a:prstGeom>
          <a:noFill/>
        </p:spPr>
        <p:txBody>
          <a:bodyPr wrap="square" lIns="0" tIns="0" rIns="0" bIns="0" anchor="t">
            <a:spAutoFit/>
          </a:bodyPr>
          <a:lstStyle/>
          <a:p>
            <a:pPr algn="l"/>
            <a:r>
              <a:rPr sz="1200" b="0">
                <a:solidFill>
                  <a:srgbClr val="9B9B9B"/>
                </a:solidFill>
                <a:latin typeface="Arial Unicode MS"/>
              </a:rPr>
              <a:t>조사 결과와 검증 계획을 공유합니다.</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9692640" cy="548640"/>
          </a:xfrm>
          <a:prstGeom prst="rect">
            <a:avLst/>
          </a:prstGeom>
          <a:noFill/>
        </p:spPr>
        <p:txBody>
          <a:bodyPr wrap="square" lIns="0" tIns="0" rIns="0" bIns="0" anchor="ctr">
            <a:spAutoFit/>
          </a:bodyPr>
          <a:lstStyle/>
          <a:p>
            <a:pPr algn="l"/>
            <a:r>
              <a:rPr sz="3000" b="1">
                <a:solidFill>
                  <a:srgbClr val="0A0A0A"/>
                </a:solidFill>
                <a:latin typeface="Arial Unicode MS"/>
              </a:rPr>
              <a:t>기존 기술 — 담을 것을 정해주는 곳은 없다</a:t>
            </a:r>
          </a:p>
        </p:txBody>
      </p:sp>
      <p:sp>
        <p:nvSpPr>
          <p:cNvPr id="3" name="TextBox 2"/>
          <p:cNvSpPr txBox="1"/>
          <p:nvPr/>
        </p:nvSpPr>
        <p:spPr>
          <a:xfrm>
            <a:off x="640080" y="1060704"/>
            <a:ext cx="10881360" cy="310896"/>
          </a:xfrm>
          <a:prstGeom prst="rect">
            <a:avLst/>
          </a:prstGeom>
          <a:noFill/>
        </p:spPr>
        <p:txBody>
          <a:bodyPr wrap="square" lIns="0" tIns="0" rIns="0" bIns="0" anchor="ctr">
            <a:spAutoFit/>
          </a:bodyPr>
          <a:lstStyle/>
          <a:p>
            <a:pPr algn="l"/>
            <a:r>
              <a:rPr sz="1300" b="0">
                <a:solidFill>
                  <a:srgbClr val="707070"/>
                </a:solidFill>
                <a:latin typeface="Arial Unicode MS"/>
              </a:rPr>
              <a:t>각 기술이 하는 일과, 이 사용사례에서 남는 한계</a:t>
            </a:r>
          </a:p>
        </p:txBody>
      </p:sp>
      <p:sp>
        <p:nvSpPr>
          <p:cNvPr id="4" name="TextBox 3"/>
          <p:cNvSpPr txBox="1"/>
          <p:nvPr/>
        </p:nvSpPr>
        <p:spPr>
          <a:xfrm>
            <a:off x="10607040" y="475488"/>
            <a:ext cx="941832" cy="548640"/>
          </a:xfrm>
          <a:prstGeom prst="rect">
            <a:avLst/>
          </a:prstGeom>
          <a:noFill/>
        </p:spPr>
        <p:txBody>
          <a:bodyPr wrap="square" lIns="0" tIns="0" rIns="0" bIns="0" anchor="ctr">
            <a:spAutoFit/>
          </a:bodyPr>
          <a:lstStyle/>
          <a:p>
            <a:pPr algn="r"/>
            <a:r>
              <a:rPr sz="1300" b="1">
                <a:solidFill>
                  <a:srgbClr val="9B9B9B"/>
                </a:solidFill>
                <a:latin typeface="Arial Unicode MS"/>
              </a:rPr>
              <a:t>02</a:t>
            </a:r>
          </a:p>
        </p:txBody>
      </p:sp>
      <p:sp>
        <p:nvSpPr>
          <p:cNvPr id="5" name="TextBox 4"/>
          <p:cNvSpPr txBox="1"/>
          <p:nvPr/>
        </p:nvSpPr>
        <p:spPr>
          <a:xfrm>
            <a:off x="640080" y="1572768"/>
            <a:ext cx="1737360" cy="274320"/>
          </a:xfrm>
          <a:prstGeom prst="rect">
            <a:avLst/>
          </a:prstGeom>
          <a:noFill/>
        </p:spPr>
        <p:txBody>
          <a:bodyPr wrap="square" lIns="0" tIns="0" rIns="0" bIns="0" anchor="t">
            <a:spAutoFit/>
          </a:bodyPr>
          <a:lstStyle/>
          <a:p>
            <a:pPr algn="l"/>
            <a:r>
              <a:rPr sz="1200" b="1">
                <a:solidFill>
                  <a:srgbClr val="707070"/>
                </a:solidFill>
                <a:latin typeface="Arial Unicode MS"/>
              </a:rPr>
              <a:t>기술</a:t>
            </a:r>
          </a:p>
        </p:txBody>
      </p:sp>
      <p:sp>
        <p:nvSpPr>
          <p:cNvPr id="6" name="TextBox 5"/>
          <p:cNvSpPr txBox="1"/>
          <p:nvPr/>
        </p:nvSpPr>
        <p:spPr>
          <a:xfrm>
            <a:off x="2450592" y="1572768"/>
            <a:ext cx="3291840" cy="274320"/>
          </a:xfrm>
          <a:prstGeom prst="rect">
            <a:avLst/>
          </a:prstGeom>
          <a:noFill/>
        </p:spPr>
        <p:txBody>
          <a:bodyPr wrap="square" lIns="0" tIns="0" rIns="0" bIns="0" anchor="t">
            <a:spAutoFit/>
          </a:bodyPr>
          <a:lstStyle/>
          <a:p>
            <a:pPr algn="l"/>
            <a:r>
              <a:rPr sz="1200" b="1">
                <a:solidFill>
                  <a:srgbClr val="707070"/>
                </a:solidFill>
                <a:latin typeface="Arial Unicode MS"/>
              </a:rPr>
              <a:t>하는 일</a:t>
            </a:r>
          </a:p>
        </p:txBody>
      </p:sp>
      <p:sp>
        <p:nvSpPr>
          <p:cNvPr id="7" name="TextBox 6"/>
          <p:cNvSpPr txBox="1"/>
          <p:nvPr/>
        </p:nvSpPr>
        <p:spPr>
          <a:xfrm>
            <a:off x="5806440" y="1572768"/>
            <a:ext cx="3566160" cy="274320"/>
          </a:xfrm>
          <a:prstGeom prst="rect">
            <a:avLst/>
          </a:prstGeom>
          <a:noFill/>
        </p:spPr>
        <p:txBody>
          <a:bodyPr wrap="square" lIns="0" tIns="0" rIns="0" bIns="0" anchor="t">
            <a:spAutoFit/>
          </a:bodyPr>
          <a:lstStyle/>
          <a:p>
            <a:pPr algn="l"/>
            <a:r>
              <a:rPr sz="1200" b="1">
                <a:solidFill>
                  <a:srgbClr val="707070"/>
                </a:solidFill>
                <a:latin typeface="Arial Unicode MS"/>
              </a:rPr>
              <a:t>이 사용사례의 한계</a:t>
            </a:r>
          </a:p>
        </p:txBody>
      </p:sp>
      <p:sp>
        <p:nvSpPr>
          <p:cNvPr id="8" name="TextBox 7"/>
          <p:cNvSpPr txBox="1"/>
          <p:nvPr/>
        </p:nvSpPr>
        <p:spPr>
          <a:xfrm>
            <a:off x="9464040" y="1572768"/>
            <a:ext cx="2084831" cy="274320"/>
          </a:xfrm>
          <a:prstGeom prst="rect">
            <a:avLst/>
          </a:prstGeom>
          <a:noFill/>
        </p:spPr>
        <p:txBody>
          <a:bodyPr wrap="square" lIns="0" tIns="0" rIns="0" bIns="0" anchor="t">
            <a:spAutoFit/>
          </a:bodyPr>
          <a:lstStyle/>
          <a:p>
            <a:pPr algn="ctr"/>
            <a:r>
              <a:rPr sz="1200" b="1">
                <a:solidFill>
                  <a:srgbClr val="707070"/>
                </a:solidFill>
                <a:latin typeface="Arial Unicode MS"/>
              </a:rPr>
              <a:t>방식</a:t>
            </a:r>
          </a:p>
        </p:txBody>
      </p:sp>
      <p:sp>
        <p:nvSpPr>
          <p:cNvPr id="9" name="Rounded Rectangle 8"/>
          <p:cNvSpPr/>
          <p:nvPr/>
        </p:nvSpPr>
        <p:spPr>
          <a:xfrm>
            <a:off x="640080" y="1938528"/>
            <a:ext cx="10908792" cy="658368"/>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04671" y="1938528"/>
            <a:ext cx="1737360" cy="658368"/>
          </a:xfrm>
          <a:prstGeom prst="rect">
            <a:avLst/>
          </a:prstGeom>
          <a:noFill/>
        </p:spPr>
        <p:txBody>
          <a:bodyPr wrap="square" lIns="0" tIns="0" rIns="0" bIns="0" anchor="ctr">
            <a:spAutoFit/>
          </a:bodyPr>
          <a:lstStyle/>
          <a:p>
            <a:pPr algn="l"/>
            <a:r>
              <a:rPr sz="1300" b="1">
                <a:solidFill>
                  <a:srgbClr val="0A0A0A"/>
                </a:solidFill>
                <a:latin typeface="Arial Unicode MS"/>
              </a:rPr>
              <a:t>Presidio</a:t>
            </a:r>
          </a:p>
        </p:txBody>
      </p:sp>
      <p:sp>
        <p:nvSpPr>
          <p:cNvPr id="11" name="TextBox 10"/>
          <p:cNvSpPr txBox="1"/>
          <p:nvPr/>
        </p:nvSpPr>
        <p:spPr>
          <a:xfrm>
            <a:off x="2450592" y="1938528"/>
            <a:ext cx="3291840" cy="658368"/>
          </a:xfrm>
          <a:prstGeom prst="rect">
            <a:avLst/>
          </a:prstGeom>
          <a:noFill/>
        </p:spPr>
        <p:txBody>
          <a:bodyPr wrap="square" lIns="0" tIns="0" rIns="0" bIns="0" anchor="ctr">
            <a:spAutoFit/>
          </a:bodyPr>
          <a:lstStyle/>
          <a:p>
            <a:pPr algn="l"/>
            <a:r>
              <a:rPr sz="1300" b="0">
                <a:solidFill>
                  <a:srgbClr val="333333"/>
                </a:solidFill>
                <a:latin typeface="Arial Unicode MS"/>
              </a:rPr>
              <a:t>민감값 탐지·치환</a:t>
            </a:r>
          </a:p>
        </p:txBody>
      </p:sp>
      <p:sp>
        <p:nvSpPr>
          <p:cNvPr id="12" name="TextBox 11"/>
          <p:cNvSpPr txBox="1"/>
          <p:nvPr/>
        </p:nvSpPr>
        <p:spPr>
          <a:xfrm>
            <a:off x="5806440" y="1938528"/>
            <a:ext cx="3566160" cy="658368"/>
          </a:xfrm>
          <a:prstGeom prst="rect">
            <a:avLst/>
          </a:prstGeom>
          <a:noFill/>
        </p:spPr>
        <p:txBody>
          <a:bodyPr wrap="square" lIns="0" tIns="0" rIns="0" bIns="0" anchor="ctr">
            <a:spAutoFit/>
          </a:bodyPr>
          <a:lstStyle/>
          <a:p>
            <a:pPr algn="l"/>
            <a:r>
              <a:rPr sz="1300" b="0">
                <a:solidFill>
                  <a:srgbClr val="333333"/>
                </a:solidFill>
                <a:latin typeface="Arial Unicode MS"/>
              </a:rPr>
              <a:t>무엇이 민감한지만 안다</a:t>
            </a:r>
          </a:p>
        </p:txBody>
      </p:sp>
      <p:sp>
        <p:nvSpPr>
          <p:cNvPr id="13" name="Rounded Rectangle 12"/>
          <p:cNvSpPr/>
          <p:nvPr/>
        </p:nvSpPr>
        <p:spPr>
          <a:xfrm>
            <a:off x="10058400" y="2130552"/>
            <a:ext cx="896112" cy="274320"/>
          </a:xfrm>
          <a:prstGeom prst="roundRect">
            <a:avLst/>
          </a:prstGeom>
          <a:solidFill>
            <a:srgbClr val="FFFFFF"/>
          </a:solid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058400" y="2130552"/>
            <a:ext cx="896112" cy="274320"/>
          </a:xfrm>
          <a:prstGeom prst="rect">
            <a:avLst/>
          </a:prstGeom>
          <a:noFill/>
        </p:spPr>
        <p:txBody>
          <a:bodyPr wrap="square" lIns="0" tIns="0" rIns="0" bIns="0" anchor="ctr">
            <a:spAutoFit/>
          </a:bodyPr>
          <a:lstStyle/>
          <a:p>
            <a:pPr algn="ctr"/>
            <a:r>
              <a:rPr sz="1100" b="1">
                <a:solidFill>
                  <a:srgbClr val="0A0A0A"/>
                </a:solidFill>
                <a:latin typeface="Arial Unicode MS"/>
              </a:rPr>
              <a:t>빼기</a:t>
            </a:r>
          </a:p>
        </p:txBody>
      </p:sp>
      <p:sp>
        <p:nvSpPr>
          <p:cNvPr id="15" name="Rounded Rectangle 14"/>
          <p:cNvSpPr/>
          <p:nvPr/>
        </p:nvSpPr>
        <p:spPr>
          <a:xfrm>
            <a:off x="640080" y="2715768"/>
            <a:ext cx="10908792" cy="658368"/>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04671" y="2715768"/>
            <a:ext cx="1737360" cy="658368"/>
          </a:xfrm>
          <a:prstGeom prst="rect">
            <a:avLst/>
          </a:prstGeom>
          <a:noFill/>
        </p:spPr>
        <p:txBody>
          <a:bodyPr wrap="square" lIns="0" tIns="0" rIns="0" bIns="0" anchor="ctr">
            <a:spAutoFit/>
          </a:bodyPr>
          <a:lstStyle/>
          <a:p>
            <a:pPr algn="l"/>
            <a:r>
              <a:rPr sz="1300" b="1">
                <a:solidFill>
                  <a:srgbClr val="0A0A0A"/>
                </a:solidFill>
                <a:latin typeface="Arial Unicode MS"/>
              </a:rPr>
              <a:t>Google SDP</a:t>
            </a:r>
          </a:p>
        </p:txBody>
      </p:sp>
      <p:sp>
        <p:nvSpPr>
          <p:cNvPr id="17" name="TextBox 16"/>
          <p:cNvSpPr txBox="1"/>
          <p:nvPr/>
        </p:nvSpPr>
        <p:spPr>
          <a:xfrm>
            <a:off x="2450592" y="2715768"/>
            <a:ext cx="3291840" cy="658368"/>
          </a:xfrm>
          <a:prstGeom prst="rect">
            <a:avLst/>
          </a:prstGeom>
          <a:noFill/>
        </p:spPr>
        <p:txBody>
          <a:bodyPr wrap="square" lIns="0" tIns="0" rIns="0" bIns="0" anchor="ctr">
            <a:spAutoFit/>
          </a:bodyPr>
          <a:lstStyle/>
          <a:p>
            <a:pPr algn="l"/>
            <a:r>
              <a:rPr sz="1300" b="0">
                <a:solidFill>
                  <a:srgbClr val="333333"/>
                </a:solidFill>
                <a:latin typeface="Arial Unicode MS"/>
              </a:rPr>
              <a:t>필드별·조건별 변환</a:t>
            </a:r>
          </a:p>
        </p:txBody>
      </p:sp>
      <p:sp>
        <p:nvSpPr>
          <p:cNvPr id="18" name="TextBox 17"/>
          <p:cNvSpPr txBox="1"/>
          <p:nvPr/>
        </p:nvSpPr>
        <p:spPr>
          <a:xfrm>
            <a:off x="5806440" y="2715768"/>
            <a:ext cx="3566160" cy="658368"/>
          </a:xfrm>
          <a:prstGeom prst="rect">
            <a:avLst/>
          </a:prstGeom>
          <a:noFill/>
        </p:spPr>
        <p:txBody>
          <a:bodyPr wrap="square" lIns="0" tIns="0" rIns="0" bIns="0" anchor="ctr">
            <a:spAutoFit/>
          </a:bodyPr>
          <a:lstStyle/>
          <a:p>
            <a:pPr algn="l"/>
            <a:r>
              <a:rPr sz="1300" b="0">
                <a:solidFill>
                  <a:srgbClr val="333333"/>
                </a:solidFill>
                <a:latin typeface="Arial Unicode MS"/>
              </a:rPr>
              <a:t>무엇을 남길지는 호출자 몫 (공식 문서 명시)</a:t>
            </a:r>
          </a:p>
        </p:txBody>
      </p:sp>
      <p:sp>
        <p:nvSpPr>
          <p:cNvPr id="19" name="Rounded Rectangle 18"/>
          <p:cNvSpPr/>
          <p:nvPr/>
        </p:nvSpPr>
        <p:spPr>
          <a:xfrm>
            <a:off x="10058400" y="2834640"/>
            <a:ext cx="896112" cy="274320"/>
          </a:xfrm>
          <a:prstGeom prst="roundRect">
            <a:avLst/>
          </a:prstGeom>
          <a:solidFill>
            <a:srgbClr val="0A0A0A"/>
          </a:solid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058400" y="2834640"/>
            <a:ext cx="896112" cy="274320"/>
          </a:xfrm>
          <a:prstGeom prst="rect">
            <a:avLst/>
          </a:prstGeom>
          <a:noFill/>
        </p:spPr>
        <p:txBody>
          <a:bodyPr wrap="square" lIns="0" tIns="0" rIns="0" bIns="0" anchor="ctr">
            <a:spAutoFit/>
          </a:bodyPr>
          <a:lstStyle/>
          <a:p>
            <a:pPr algn="ctr"/>
            <a:r>
              <a:rPr sz="1100" b="1">
                <a:solidFill>
                  <a:srgbClr val="FFFFFF"/>
                </a:solidFill>
                <a:latin typeface="Arial Unicode MS"/>
              </a:rPr>
              <a:t>담기</a:t>
            </a:r>
          </a:p>
        </p:txBody>
      </p:sp>
      <p:sp>
        <p:nvSpPr>
          <p:cNvPr id="21" name="TextBox 20"/>
          <p:cNvSpPr txBox="1"/>
          <p:nvPr/>
        </p:nvSpPr>
        <p:spPr>
          <a:xfrm>
            <a:off x="9464040" y="3127248"/>
            <a:ext cx="2084831" cy="201168"/>
          </a:xfrm>
          <a:prstGeom prst="rect">
            <a:avLst/>
          </a:prstGeom>
          <a:noFill/>
        </p:spPr>
        <p:txBody>
          <a:bodyPr wrap="square" lIns="0" tIns="0" rIns="0" bIns="0" anchor="ctr">
            <a:spAutoFit/>
          </a:bodyPr>
          <a:lstStyle/>
          <a:p>
            <a:pPr algn="ctr"/>
            <a:r>
              <a:rPr sz="850" b="0">
                <a:solidFill>
                  <a:srgbClr val="707070"/>
                </a:solidFill>
                <a:latin typeface="Arial Unicode MS"/>
              </a:rPr>
              <a:t>사용자가 직접 정해야 함</a:t>
            </a:r>
          </a:p>
        </p:txBody>
      </p:sp>
      <p:sp>
        <p:nvSpPr>
          <p:cNvPr id="22" name="Rounded Rectangle 21"/>
          <p:cNvSpPr/>
          <p:nvPr/>
        </p:nvSpPr>
        <p:spPr>
          <a:xfrm>
            <a:off x="640080" y="3493008"/>
            <a:ext cx="10908792" cy="658368"/>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04671" y="3493008"/>
            <a:ext cx="1737360" cy="658368"/>
          </a:xfrm>
          <a:prstGeom prst="rect">
            <a:avLst/>
          </a:prstGeom>
          <a:noFill/>
        </p:spPr>
        <p:txBody>
          <a:bodyPr wrap="square" lIns="0" tIns="0" rIns="0" bIns="0" anchor="ctr">
            <a:spAutoFit/>
          </a:bodyPr>
          <a:lstStyle/>
          <a:p>
            <a:pPr algn="l"/>
            <a:r>
              <a:rPr sz="1300" b="1">
                <a:solidFill>
                  <a:srgbClr val="0A0A0A"/>
                </a:solidFill>
                <a:latin typeface="Arial Unicode MS"/>
              </a:rPr>
              <a:t>Kong AI Sanitizer</a:t>
            </a:r>
          </a:p>
        </p:txBody>
      </p:sp>
      <p:sp>
        <p:nvSpPr>
          <p:cNvPr id="24" name="TextBox 23"/>
          <p:cNvSpPr txBox="1"/>
          <p:nvPr/>
        </p:nvSpPr>
        <p:spPr>
          <a:xfrm>
            <a:off x="2450592" y="3493008"/>
            <a:ext cx="3291840" cy="658368"/>
          </a:xfrm>
          <a:prstGeom prst="rect">
            <a:avLst/>
          </a:prstGeom>
          <a:noFill/>
        </p:spPr>
        <p:txBody>
          <a:bodyPr wrap="square" lIns="0" tIns="0" rIns="0" bIns="0" anchor="ctr">
            <a:spAutoFit/>
          </a:bodyPr>
          <a:lstStyle/>
          <a:p>
            <a:pPr algn="l"/>
            <a:r>
              <a:rPr sz="1300" b="0">
                <a:solidFill>
                  <a:srgbClr val="333333"/>
                </a:solidFill>
                <a:latin typeface="Arial Unicode MS"/>
              </a:rPr>
              <a:t>AI 요청 전 PII 치환</a:t>
            </a:r>
          </a:p>
        </p:txBody>
      </p:sp>
      <p:sp>
        <p:nvSpPr>
          <p:cNvPr id="25" name="TextBox 24"/>
          <p:cNvSpPr txBox="1"/>
          <p:nvPr/>
        </p:nvSpPr>
        <p:spPr>
          <a:xfrm>
            <a:off x="5806440" y="3493008"/>
            <a:ext cx="3566160" cy="658368"/>
          </a:xfrm>
          <a:prstGeom prst="rect">
            <a:avLst/>
          </a:prstGeom>
          <a:noFill/>
        </p:spPr>
        <p:txBody>
          <a:bodyPr wrap="square" lIns="0" tIns="0" rIns="0" bIns="0" anchor="ctr">
            <a:spAutoFit/>
          </a:bodyPr>
          <a:lstStyle/>
          <a:p>
            <a:pPr algn="l"/>
            <a:r>
              <a:rPr sz="1300" b="0">
                <a:solidFill>
                  <a:srgbClr val="333333"/>
                </a:solidFill>
                <a:latin typeface="Arial Unicode MS"/>
              </a:rPr>
              <a:t>업무별 구분 없음</a:t>
            </a:r>
          </a:p>
        </p:txBody>
      </p:sp>
      <p:sp>
        <p:nvSpPr>
          <p:cNvPr id="26" name="Rounded Rectangle 25"/>
          <p:cNvSpPr/>
          <p:nvPr/>
        </p:nvSpPr>
        <p:spPr>
          <a:xfrm>
            <a:off x="10058400" y="3685032"/>
            <a:ext cx="896112" cy="274320"/>
          </a:xfrm>
          <a:prstGeom prst="roundRect">
            <a:avLst/>
          </a:prstGeom>
          <a:solidFill>
            <a:srgbClr val="FFFFFF"/>
          </a:solid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0058400" y="3685032"/>
            <a:ext cx="896112" cy="274320"/>
          </a:xfrm>
          <a:prstGeom prst="rect">
            <a:avLst/>
          </a:prstGeom>
          <a:noFill/>
        </p:spPr>
        <p:txBody>
          <a:bodyPr wrap="square" lIns="0" tIns="0" rIns="0" bIns="0" anchor="ctr">
            <a:spAutoFit/>
          </a:bodyPr>
          <a:lstStyle/>
          <a:p>
            <a:pPr algn="ctr"/>
            <a:r>
              <a:rPr sz="1100" b="1">
                <a:solidFill>
                  <a:srgbClr val="0A0A0A"/>
                </a:solidFill>
                <a:latin typeface="Arial Unicode MS"/>
              </a:rPr>
              <a:t>빼기</a:t>
            </a:r>
          </a:p>
        </p:txBody>
      </p:sp>
      <p:sp>
        <p:nvSpPr>
          <p:cNvPr id="28" name="Rounded Rectangle 27"/>
          <p:cNvSpPr/>
          <p:nvPr/>
        </p:nvSpPr>
        <p:spPr>
          <a:xfrm>
            <a:off x="640080" y="4498848"/>
            <a:ext cx="10908792" cy="822960"/>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60120" y="4498848"/>
            <a:ext cx="10241280" cy="822960"/>
          </a:xfrm>
          <a:prstGeom prst="rect">
            <a:avLst/>
          </a:prstGeom>
          <a:noFill/>
        </p:spPr>
        <p:txBody>
          <a:bodyPr wrap="square" lIns="0" tIns="0" rIns="0" bIns="0" anchor="ctr">
            <a:spAutoFit/>
          </a:bodyPr>
          <a:lstStyle/>
          <a:p>
            <a:pPr algn="l"/>
            <a:r>
              <a:rPr sz="1700" b="0">
                <a:solidFill>
                  <a:srgbClr val="9B9B9B"/>
                </a:solidFill>
                <a:latin typeface="Arial Unicode MS"/>
              </a:rPr>
              <a:t>담기는 이미 가능하다. 다만 </a:t>
            </a:r>
            <a:r>
              <a:rPr sz="1700" b="1">
                <a:solidFill>
                  <a:srgbClr val="FFFFFF"/>
                </a:solidFill>
                <a:latin typeface="Arial Unicode MS"/>
              </a:rPr>
              <a:t>이 업무에 무엇을 담아야 하는지는 아무도 정해주지 않는다.</a:t>
            </a:r>
          </a:p>
        </p:txBody>
      </p:sp>
      <p:sp>
        <p:nvSpPr>
          <p:cNvPr id="30" name="TextBox 29"/>
          <p:cNvSpPr txBox="1"/>
          <p:nvPr/>
        </p:nvSpPr>
        <p:spPr>
          <a:xfrm>
            <a:off x="640080" y="5577840"/>
            <a:ext cx="10908792" cy="310896"/>
          </a:xfrm>
          <a:prstGeom prst="rect">
            <a:avLst/>
          </a:prstGeom>
          <a:noFill/>
        </p:spPr>
        <p:txBody>
          <a:bodyPr wrap="square" lIns="0" tIns="0" rIns="0" bIns="0" anchor="t">
            <a:spAutoFit/>
          </a:bodyPr>
          <a:lstStyle/>
          <a:p>
            <a:pPr algn="l"/>
            <a:r>
              <a:rPr sz="1150" b="0">
                <a:solidFill>
                  <a:srgbClr val="707070"/>
                </a:solidFill>
                <a:latin typeface="Arial Unicode MS"/>
              </a:rPr>
              <a:t>무엇을 남길지 고르는 문제는 이미 연구 주제다 — PII-Bench (Shen et al., ACL 2026), Zhou et al. (2025)</a:t>
            </a:r>
          </a:p>
        </p:txBody>
      </p:sp>
      <p:sp>
        <p:nvSpPr>
          <p:cNvPr id="31" name="TextBox 30"/>
          <p:cNvSpPr txBox="1"/>
          <p:nvPr/>
        </p:nvSpPr>
        <p:spPr>
          <a:xfrm>
            <a:off x="640080" y="5925312"/>
            <a:ext cx="10908792" cy="274320"/>
          </a:xfrm>
          <a:prstGeom prst="rect">
            <a:avLst/>
          </a:prstGeom>
          <a:noFill/>
        </p:spPr>
        <p:txBody>
          <a:bodyPr wrap="square" lIns="0" tIns="0" rIns="0" bIns="0" anchor="t">
            <a:spAutoFit/>
          </a:bodyPr>
          <a:lstStyle/>
          <a:p>
            <a:pPr algn="l"/>
            <a:r>
              <a:rPr sz="1000" b="0">
                <a:solidFill>
                  <a:srgbClr val="9B9B9B"/>
                </a:solidFill>
                <a:latin typeface="Arial Unicode MS"/>
              </a:rPr>
              <a:t>출처: Presidio README · Google Cloud SDP 문서 · Kong 문서 · ACL Anthology · arXiv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9692640" cy="548640"/>
          </a:xfrm>
          <a:prstGeom prst="rect">
            <a:avLst/>
          </a:prstGeom>
          <a:noFill/>
        </p:spPr>
        <p:txBody>
          <a:bodyPr wrap="square" lIns="0" tIns="0" rIns="0" bIns="0" anchor="ctr">
            <a:spAutoFit/>
          </a:bodyPr>
          <a:lstStyle/>
          <a:p>
            <a:pPr algn="l"/>
            <a:r>
              <a:rPr sz="3000" b="1">
                <a:solidFill>
                  <a:srgbClr val="0A0A0A"/>
                </a:solidFill>
                <a:latin typeface="Arial Unicode MS"/>
              </a:rPr>
              <a:t>여과시간 — 담기를 기본으로 놓는다</a:t>
            </a:r>
          </a:p>
        </p:txBody>
      </p:sp>
      <p:sp>
        <p:nvSpPr>
          <p:cNvPr id="3" name="TextBox 2"/>
          <p:cNvSpPr txBox="1"/>
          <p:nvPr/>
        </p:nvSpPr>
        <p:spPr>
          <a:xfrm>
            <a:off x="659130" y="1060704"/>
            <a:ext cx="10881360" cy="310896"/>
          </a:xfrm>
          <a:prstGeom prst="rect">
            <a:avLst/>
          </a:prstGeom>
          <a:noFill/>
        </p:spPr>
        <p:txBody>
          <a:bodyPr wrap="square" lIns="0" tIns="0" rIns="0" bIns="0" anchor="ctr">
            <a:spAutoFit/>
          </a:bodyPr>
          <a:lstStyle/>
          <a:p>
            <a:pPr algn="l"/>
            <a:r>
              <a:rPr sz="1300" b="0">
                <a:solidFill>
                  <a:srgbClr val="707070"/>
                </a:solidFill>
                <a:latin typeface="Arial Unicode MS"/>
              </a:rPr>
              <a:t>같은 장애 로그 12개 필드로 본 차이 (예시)</a:t>
            </a:r>
          </a:p>
        </p:txBody>
      </p:sp>
      <p:sp>
        <p:nvSpPr>
          <p:cNvPr id="4" name="TextBox 3"/>
          <p:cNvSpPr txBox="1"/>
          <p:nvPr/>
        </p:nvSpPr>
        <p:spPr>
          <a:xfrm>
            <a:off x="10607040" y="475488"/>
            <a:ext cx="941832" cy="548640"/>
          </a:xfrm>
          <a:prstGeom prst="rect">
            <a:avLst/>
          </a:prstGeom>
          <a:noFill/>
        </p:spPr>
        <p:txBody>
          <a:bodyPr wrap="square" lIns="0" tIns="0" rIns="0" bIns="0" anchor="ctr">
            <a:spAutoFit/>
          </a:bodyPr>
          <a:lstStyle/>
          <a:p>
            <a:pPr algn="r"/>
            <a:r>
              <a:rPr sz="1300" b="1">
                <a:solidFill>
                  <a:srgbClr val="9B9B9B"/>
                </a:solidFill>
                <a:latin typeface="Arial Unicode MS"/>
              </a:rPr>
              <a:t>03</a:t>
            </a:r>
          </a:p>
        </p:txBody>
      </p:sp>
      <p:sp>
        <p:nvSpPr>
          <p:cNvPr id="5" name="Rounded Rectangle 4"/>
          <p:cNvSpPr/>
          <p:nvPr/>
        </p:nvSpPr>
        <p:spPr>
          <a:xfrm>
            <a:off x="640080" y="1591056"/>
            <a:ext cx="1645920" cy="530352"/>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0080" y="1591056"/>
            <a:ext cx="1645920" cy="530352"/>
          </a:xfrm>
          <a:prstGeom prst="rect">
            <a:avLst/>
          </a:prstGeom>
          <a:noFill/>
        </p:spPr>
        <p:txBody>
          <a:bodyPr wrap="square" lIns="0" tIns="0" rIns="0" bIns="0" anchor="ctr">
            <a:spAutoFit/>
          </a:bodyPr>
          <a:lstStyle/>
          <a:p>
            <a:pPr algn="ctr"/>
            <a:r>
              <a:rPr sz="1300" b="1">
                <a:solidFill>
                  <a:srgbClr val="0A0A0A"/>
                </a:solidFill>
                <a:latin typeface="Arial Unicode MS"/>
              </a:rPr>
              <a:t>기존 · 빼기</a:t>
            </a:r>
          </a:p>
        </p:txBody>
      </p:sp>
      <p:sp>
        <p:nvSpPr>
          <p:cNvPr id="7" name="Rounded Rectangle 6"/>
          <p:cNvSpPr/>
          <p:nvPr/>
        </p:nvSpPr>
        <p:spPr>
          <a:xfrm>
            <a:off x="2395728" y="1664208"/>
            <a:ext cx="548640" cy="384048"/>
          </a:xfrm>
          <a:prstGeom prst="round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3035808" y="1664208"/>
            <a:ext cx="548640" cy="384048"/>
          </a:xfrm>
          <a:prstGeom prst="round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3675887" y="1664208"/>
            <a:ext cx="548640" cy="384048"/>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4315968" y="1664208"/>
            <a:ext cx="548640" cy="384048"/>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4956048" y="1664208"/>
            <a:ext cx="548640" cy="384048"/>
          </a:xfrm>
          <a:prstGeom prst="round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596128" y="1664208"/>
            <a:ext cx="548640" cy="384048"/>
          </a:xfrm>
          <a:prstGeom prst="roundRect">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236207" y="1664208"/>
            <a:ext cx="548640" cy="384048"/>
          </a:xfrm>
          <a:prstGeom prst="round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6876288" y="1664208"/>
            <a:ext cx="548640" cy="384048"/>
          </a:xfrm>
          <a:prstGeom prst="round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7516367" y="1664208"/>
            <a:ext cx="548640" cy="384048"/>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8156448" y="1664208"/>
            <a:ext cx="548640" cy="384048"/>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8796528" y="1664208"/>
            <a:ext cx="548640" cy="384048"/>
          </a:xfrm>
          <a:prstGeom prst="roundRect">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9436608" y="1664208"/>
            <a:ext cx="548640" cy="384048"/>
          </a:xfrm>
          <a:prstGeom prst="roundRect">
            <a:avLst/>
          </a:prstGeom>
          <a:pattFill prst="dkUpDiag">
            <a:fgClr>
              <a:srgbClr val="0A0A0A"/>
            </a:fgClr>
            <a:bgClr>
              <a:srgbClr val="FFFFFF"/>
            </a:bgClr>
          </a:patt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104120" y="1591056"/>
            <a:ext cx="1828800" cy="530352"/>
          </a:xfrm>
          <a:prstGeom prst="rect">
            <a:avLst/>
          </a:prstGeom>
          <a:noFill/>
        </p:spPr>
        <p:txBody>
          <a:bodyPr wrap="square" lIns="0" tIns="0" rIns="0" bIns="0" anchor="ctr">
            <a:spAutoFit/>
          </a:bodyPr>
          <a:lstStyle/>
          <a:p>
            <a:pPr algn="l"/>
            <a:r>
              <a:rPr sz="1500" b="1">
                <a:solidFill>
                  <a:srgbClr val="0A0A0A"/>
                </a:solidFill>
                <a:latin typeface="Arial Unicode MS"/>
              </a:rPr>
              <a:t>10칸 나감</a:t>
            </a:r>
          </a:p>
          <a:p>
            <a:pPr algn="l"/>
            <a:r>
              <a:rPr sz="1050" b="0">
                <a:solidFill>
                  <a:srgbClr val="707070"/>
                </a:solidFill>
                <a:latin typeface="Arial Unicode MS"/>
              </a:rPr>
              <a:t>민감값 1칸 포함</a:t>
            </a:r>
          </a:p>
        </p:txBody>
      </p:sp>
      <p:sp>
        <p:nvSpPr>
          <p:cNvPr id="20" name="TextBox 19"/>
          <p:cNvSpPr txBox="1"/>
          <p:nvPr/>
        </p:nvSpPr>
        <p:spPr>
          <a:xfrm>
            <a:off x="640080" y="2176272"/>
            <a:ext cx="9326880" cy="274320"/>
          </a:xfrm>
          <a:prstGeom prst="rect">
            <a:avLst/>
          </a:prstGeom>
          <a:noFill/>
        </p:spPr>
        <p:txBody>
          <a:bodyPr wrap="square" lIns="0" tIns="0" rIns="0" bIns="0" anchor="t">
            <a:spAutoFit/>
          </a:bodyPr>
          <a:lstStyle/>
          <a:p>
            <a:pPr algn="l"/>
            <a:r>
              <a:rPr sz="1150" b="0">
                <a:solidFill>
                  <a:srgbClr val="707070"/>
                </a:solidFill>
                <a:latin typeface="Arial Unicode MS"/>
              </a:rPr>
              <a:t>업무와 무관한 필드도 함께 나가고, 탐지가 놓친 민감값도 그대로 포함된다</a:t>
            </a:r>
          </a:p>
        </p:txBody>
      </p:sp>
      <p:sp>
        <p:nvSpPr>
          <p:cNvPr id="21" name="Rounded Rectangle 20"/>
          <p:cNvSpPr/>
          <p:nvPr/>
        </p:nvSpPr>
        <p:spPr>
          <a:xfrm>
            <a:off x="640080" y="2596896"/>
            <a:ext cx="1645920" cy="530352"/>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40080" y="2596896"/>
            <a:ext cx="1645920" cy="530352"/>
          </a:xfrm>
          <a:prstGeom prst="rect">
            <a:avLst/>
          </a:prstGeom>
          <a:noFill/>
        </p:spPr>
        <p:txBody>
          <a:bodyPr wrap="square" lIns="0" tIns="0" rIns="0" bIns="0" anchor="ctr">
            <a:spAutoFit/>
          </a:bodyPr>
          <a:lstStyle/>
          <a:p>
            <a:pPr algn="ctr"/>
            <a:r>
              <a:rPr sz="1300" b="1">
                <a:solidFill>
                  <a:srgbClr val="FFFFFF"/>
                </a:solidFill>
                <a:latin typeface="Arial Unicode MS"/>
              </a:rPr>
              <a:t>여과시간 · 담기</a:t>
            </a:r>
          </a:p>
        </p:txBody>
      </p:sp>
      <p:sp>
        <p:nvSpPr>
          <p:cNvPr id="23" name="Rounded Rectangle 22"/>
          <p:cNvSpPr/>
          <p:nvPr/>
        </p:nvSpPr>
        <p:spPr>
          <a:xfrm>
            <a:off x="2395728" y="2670048"/>
            <a:ext cx="548640" cy="384048"/>
          </a:xfrm>
          <a:prstGeom prst="roundRect">
            <a:avLst/>
          </a:prstGeom>
          <a:solidFill>
            <a:srgbClr val="FFFFFF"/>
          </a:solidFill>
          <a:ln w="9525">
            <a:solidFill>
              <a:srgbClr val="A8A8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3035808" y="2670048"/>
            <a:ext cx="548640" cy="384048"/>
          </a:xfrm>
          <a:prstGeom prst="roundRect">
            <a:avLst/>
          </a:prstGeom>
          <a:solidFill>
            <a:srgbClr val="FFFFFF"/>
          </a:solidFill>
          <a:ln w="9525">
            <a:solidFill>
              <a:srgbClr val="A8A8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3675887" y="2670048"/>
            <a:ext cx="548640" cy="384048"/>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p:cNvSpPr/>
          <p:nvPr/>
        </p:nvSpPr>
        <p:spPr>
          <a:xfrm>
            <a:off x="4315968" y="2670048"/>
            <a:ext cx="548640" cy="384048"/>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6"/>
          <p:cNvSpPr/>
          <p:nvPr/>
        </p:nvSpPr>
        <p:spPr>
          <a:xfrm>
            <a:off x="4956048" y="2670048"/>
            <a:ext cx="548640" cy="384048"/>
          </a:xfrm>
          <a:prstGeom prst="roundRect">
            <a:avLst/>
          </a:prstGeom>
          <a:solidFill>
            <a:srgbClr val="FFFFFF"/>
          </a:solidFill>
          <a:ln w="9525">
            <a:solidFill>
              <a:srgbClr val="A8A8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5596128" y="2670048"/>
            <a:ext cx="548640" cy="384048"/>
          </a:xfrm>
          <a:prstGeom prst="roundRect">
            <a:avLst/>
          </a:prstGeom>
          <a:solidFill>
            <a:srgbClr val="FFFFFF"/>
          </a:solidFill>
          <a:ln w="9525">
            <a:solidFill>
              <a:srgbClr val="A8A8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6236207" y="2670048"/>
            <a:ext cx="548640" cy="384048"/>
          </a:xfrm>
          <a:prstGeom prst="roundRect">
            <a:avLst/>
          </a:prstGeom>
          <a:solidFill>
            <a:srgbClr val="FFFFFF"/>
          </a:solidFill>
          <a:ln w="9525">
            <a:solidFill>
              <a:srgbClr val="A8A8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ounded Rectangle 29"/>
          <p:cNvSpPr/>
          <p:nvPr/>
        </p:nvSpPr>
        <p:spPr>
          <a:xfrm>
            <a:off x="6876288" y="2670048"/>
            <a:ext cx="548640" cy="384048"/>
          </a:xfrm>
          <a:prstGeom prst="roundRect">
            <a:avLst/>
          </a:prstGeom>
          <a:solidFill>
            <a:srgbClr val="FFFFFF"/>
          </a:solidFill>
          <a:ln w="9525">
            <a:solidFill>
              <a:srgbClr val="A8A8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7516367" y="2670048"/>
            <a:ext cx="548640" cy="384048"/>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le 31"/>
          <p:cNvSpPr/>
          <p:nvPr/>
        </p:nvSpPr>
        <p:spPr>
          <a:xfrm>
            <a:off x="8156448" y="2670048"/>
            <a:ext cx="548640" cy="384048"/>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8796528" y="2670048"/>
            <a:ext cx="548640" cy="384048"/>
          </a:xfrm>
          <a:prstGeom prst="roundRect">
            <a:avLst/>
          </a:prstGeom>
          <a:solidFill>
            <a:srgbClr val="FFFFFF"/>
          </a:solidFill>
          <a:ln w="9525">
            <a:solidFill>
              <a:srgbClr val="A8A8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9436608" y="2670048"/>
            <a:ext cx="548640" cy="384048"/>
          </a:xfrm>
          <a:prstGeom prst="roundRect">
            <a:avLst/>
          </a:prstGeom>
          <a:solidFill>
            <a:srgbClr val="FFFFFF"/>
          </a:solidFill>
          <a:ln w="9525">
            <a:solidFill>
              <a:srgbClr val="A8A8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104120" y="2596896"/>
            <a:ext cx="1828800" cy="530352"/>
          </a:xfrm>
          <a:prstGeom prst="rect">
            <a:avLst/>
          </a:prstGeom>
          <a:noFill/>
        </p:spPr>
        <p:txBody>
          <a:bodyPr wrap="square" lIns="0" tIns="0" rIns="0" bIns="0" anchor="ctr">
            <a:spAutoFit/>
          </a:bodyPr>
          <a:lstStyle/>
          <a:p>
            <a:pPr algn="l"/>
            <a:r>
              <a:rPr sz="1500" b="1">
                <a:solidFill>
                  <a:srgbClr val="0A0A0A"/>
                </a:solidFill>
                <a:latin typeface="Arial Unicode MS"/>
              </a:rPr>
              <a:t>4칸 나감</a:t>
            </a:r>
          </a:p>
          <a:p>
            <a:pPr algn="l"/>
            <a:r>
              <a:rPr sz="1050" b="0">
                <a:solidFill>
                  <a:srgbClr val="707070"/>
                </a:solidFill>
                <a:latin typeface="Arial Unicode MS"/>
              </a:rPr>
              <a:t>민감값 0칸</a:t>
            </a:r>
          </a:p>
        </p:txBody>
      </p:sp>
      <p:sp>
        <p:nvSpPr>
          <p:cNvPr id="36" name="TextBox 35"/>
          <p:cNvSpPr txBox="1"/>
          <p:nvPr/>
        </p:nvSpPr>
        <p:spPr>
          <a:xfrm>
            <a:off x="640080" y="3182112"/>
            <a:ext cx="9326880" cy="274320"/>
          </a:xfrm>
          <a:prstGeom prst="rect">
            <a:avLst/>
          </a:prstGeom>
          <a:noFill/>
        </p:spPr>
        <p:txBody>
          <a:bodyPr wrap="square" lIns="0" tIns="0" rIns="0" bIns="0" anchor="t">
            <a:spAutoFit/>
          </a:bodyPr>
          <a:lstStyle/>
          <a:p>
            <a:pPr algn="l"/>
            <a:r>
              <a:rPr sz="1150" b="0">
                <a:solidFill>
                  <a:srgbClr val="707070"/>
                </a:solidFill>
                <a:latin typeface="Arial Unicode MS"/>
              </a:rPr>
              <a:t>담기로 고른 것만 나간다. 안 담은 건 탐지와 무관하게 나가지 않는다</a:t>
            </a:r>
          </a:p>
        </p:txBody>
      </p:sp>
      <p:sp>
        <p:nvSpPr>
          <p:cNvPr id="37" name="Rectangle 36"/>
          <p:cNvSpPr/>
          <p:nvPr/>
        </p:nvSpPr>
        <p:spPr>
          <a:xfrm>
            <a:off x="2395728" y="3529584"/>
            <a:ext cx="182880" cy="1828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2670048" y="3493008"/>
            <a:ext cx="1371600" cy="256032"/>
          </a:xfrm>
          <a:prstGeom prst="rect">
            <a:avLst/>
          </a:prstGeom>
          <a:noFill/>
        </p:spPr>
        <p:txBody>
          <a:bodyPr wrap="square" lIns="0" tIns="0" rIns="0" bIns="0" anchor="ctr">
            <a:spAutoFit/>
          </a:bodyPr>
          <a:lstStyle/>
          <a:p>
            <a:pPr algn="l"/>
            <a:r>
              <a:rPr sz="1050" b="0">
                <a:solidFill>
                  <a:srgbClr val="707070"/>
                </a:solidFill>
                <a:latin typeface="Arial Unicode MS"/>
              </a:rPr>
              <a:t>업무에 필요</a:t>
            </a:r>
          </a:p>
        </p:txBody>
      </p:sp>
      <p:sp>
        <p:nvSpPr>
          <p:cNvPr id="39" name="Rectangle 38"/>
          <p:cNvSpPr/>
          <p:nvPr/>
        </p:nvSpPr>
        <p:spPr>
          <a:xfrm>
            <a:off x="4096512" y="3529584"/>
            <a:ext cx="182880" cy="182880"/>
          </a:xfrm>
          <a:prstGeom prst="rect">
            <a:avLst/>
          </a:prstGeom>
          <a:pattFill prst="dkUpDiag">
            <a:fgClr>
              <a:srgbClr val="0A0A0A"/>
            </a:fgClr>
            <a:bgClr>
              <a:srgbClr val="FFFFFF"/>
            </a:bgClr>
          </a:pattFill>
          <a:ln w="9525">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4370832" y="3493008"/>
            <a:ext cx="1371600" cy="256032"/>
          </a:xfrm>
          <a:prstGeom prst="rect">
            <a:avLst/>
          </a:prstGeom>
          <a:noFill/>
        </p:spPr>
        <p:txBody>
          <a:bodyPr wrap="square" lIns="0" tIns="0" rIns="0" bIns="0" anchor="ctr">
            <a:spAutoFit/>
          </a:bodyPr>
          <a:lstStyle/>
          <a:p>
            <a:pPr algn="l"/>
            <a:r>
              <a:rPr sz="1050" b="0">
                <a:solidFill>
                  <a:srgbClr val="707070"/>
                </a:solidFill>
                <a:latin typeface="Arial Unicode MS"/>
              </a:rPr>
              <a:t>못 찾은 민감값</a:t>
            </a:r>
          </a:p>
        </p:txBody>
      </p:sp>
      <p:sp>
        <p:nvSpPr>
          <p:cNvPr id="41" name="Rectangle 40"/>
          <p:cNvSpPr/>
          <p:nvPr/>
        </p:nvSpPr>
        <p:spPr>
          <a:xfrm>
            <a:off x="5797296" y="3529584"/>
            <a:ext cx="182880" cy="182880"/>
          </a:xfrm>
          <a:prstGeom prst="rect">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071616" y="3493008"/>
            <a:ext cx="1371600" cy="256032"/>
          </a:xfrm>
          <a:prstGeom prst="rect">
            <a:avLst/>
          </a:prstGeom>
          <a:noFill/>
        </p:spPr>
        <p:txBody>
          <a:bodyPr wrap="square" lIns="0" tIns="0" rIns="0" bIns="0" anchor="ctr">
            <a:spAutoFit/>
          </a:bodyPr>
          <a:lstStyle/>
          <a:p>
            <a:pPr algn="l"/>
            <a:r>
              <a:rPr sz="1050" b="0">
                <a:solidFill>
                  <a:srgbClr val="707070"/>
                </a:solidFill>
                <a:latin typeface="Arial Unicode MS"/>
              </a:rPr>
              <a:t>업무와 무관</a:t>
            </a:r>
          </a:p>
        </p:txBody>
      </p:sp>
      <p:sp>
        <p:nvSpPr>
          <p:cNvPr id="43" name="Rectangle 42"/>
          <p:cNvSpPr/>
          <p:nvPr/>
        </p:nvSpPr>
        <p:spPr>
          <a:xfrm>
            <a:off x="7498079" y="3529584"/>
            <a:ext cx="182880" cy="182880"/>
          </a:xfrm>
          <a:prstGeom prst="rect">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7772400" y="3493008"/>
            <a:ext cx="1371600" cy="256032"/>
          </a:xfrm>
          <a:prstGeom prst="rect">
            <a:avLst/>
          </a:prstGeom>
          <a:noFill/>
        </p:spPr>
        <p:txBody>
          <a:bodyPr wrap="square" lIns="0" tIns="0" rIns="0" bIns="0" anchor="ctr">
            <a:spAutoFit/>
          </a:bodyPr>
          <a:lstStyle/>
          <a:p>
            <a:pPr algn="l"/>
            <a:r>
              <a:rPr sz="1050" b="0">
                <a:solidFill>
                  <a:srgbClr val="707070"/>
                </a:solidFill>
                <a:latin typeface="Arial Unicode MS"/>
              </a:rPr>
              <a:t>지워짐</a:t>
            </a:r>
          </a:p>
        </p:txBody>
      </p:sp>
      <p:sp>
        <p:nvSpPr>
          <p:cNvPr id="45" name="Rectangle 44"/>
          <p:cNvSpPr/>
          <p:nvPr/>
        </p:nvSpPr>
        <p:spPr>
          <a:xfrm>
            <a:off x="9198864" y="3529584"/>
            <a:ext cx="182880" cy="182880"/>
          </a:xfrm>
          <a:prstGeom prst="rect">
            <a:avLst/>
          </a:prstGeom>
          <a:solidFill>
            <a:srgbClr val="FFFFFF"/>
          </a:solidFill>
          <a:ln w="9525">
            <a:solidFill>
              <a:srgbClr val="A8A8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9473184" y="3493008"/>
            <a:ext cx="1371600" cy="256032"/>
          </a:xfrm>
          <a:prstGeom prst="rect">
            <a:avLst/>
          </a:prstGeom>
          <a:noFill/>
        </p:spPr>
        <p:txBody>
          <a:bodyPr wrap="square" lIns="0" tIns="0" rIns="0" bIns="0" anchor="ctr">
            <a:spAutoFit/>
          </a:bodyPr>
          <a:lstStyle/>
          <a:p>
            <a:pPr algn="l"/>
            <a:r>
              <a:rPr sz="1050" b="0">
                <a:solidFill>
                  <a:srgbClr val="707070"/>
                </a:solidFill>
                <a:latin typeface="Arial Unicode MS"/>
              </a:rPr>
              <a:t>안 담음</a:t>
            </a:r>
          </a:p>
        </p:txBody>
      </p:sp>
      <p:sp>
        <p:nvSpPr>
          <p:cNvPr id="47" name="Rounded Rectangle 46"/>
          <p:cNvSpPr/>
          <p:nvPr/>
        </p:nvSpPr>
        <p:spPr>
          <a:xfrm>
            <a:off x="640080" y="4005072"/>
            <a:ext cx="5532120" cy="2286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914400" y="4187952"/>
            <a:ext cx="4983480" cy="274320"/>
          </a:xfrm>
          <a:prstGeom prst="rect">
            <a:avLst/>
          </a:prstGeom>
          <a:noFill/>
        </p:spPr>
        <p:txBody>
          <a:bodyPr wrap="square" lIns="0" tIns="0" rIns="0" bIns="0" anchor="t">
            <a:spAutoFit/>
          </a:bodyPr>
          <a:lstStyle/>
          <a:p>
            <a:pPr algn="l"/>
            <a:r>
              <a:rPr sz="1300" b="1">
                <a:solidFill>
                  <a:srgbClr val="0A0A0A"/>
                </a:solidFill>
                <a:latin typeface="Arial Unicode MS"/>
              </a:rPr>
              <a:t>적용 범위 — 보내기 전 네 단계</a:t>
            </a:r>
          </a:p>
        </p:txBody>
      </p:sp>
      <p:sp>
        <p:nvSpPr>
          <p:cNvPr id="49" name="Oval 48"/>
          <p:cNvSpPr/>
          <p:nvPr/>
        </p:nvSpPr>
        <p:spPr>
          <a:xfrm>
            <a:off x="914400" y="4617720"/>
            <a:ext cx="237744" cy="237744"/>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914400" y="4617720"/>
            <a:ext cx="237744" cy="237744"/>
          </a:xfrm>
          <a:prstGeom prst="rect">
            <a:avLst/>
          </a:prstGeom>
          <a:noFill/>
        </p:spPr>
        <p:txBody>
          <a:bodyPr wrap="square" lIns="0" tIns="0" rIns="0" bIns="0" anchor="ctr">
            <a:spAutoFit/>
          </a:bodyPr>
          <a:lstStyle/>
          <a:p>
            <a:pPr algn="ctr"/>
            <a:r>
              <a:rPr sz="950" b="1">
                <a:solidFill>
                  <a:srgbClr val="FFFFFF"/>
                </a:solidFill>
                <a:latin typeface="Arial Unicode MS"/>
              </a:rPr>
              <a:t>1</a:t>
            </a:r>
          </a:p>
        </p:txBody>
      </p:sp>
      <p:sp>
        <p:nvSpPr>
          <p:cNvPr id="51" name="TextBox 50"/>
          <p:cNvSpPr txBox="1"/>
          <p:nvPr/>
        </p:nvSpPr>
        <p:spPr>
          <a:xfrm>
            <a:off x="1298448" y="4590288"/>
            <a:ext cx="4663440" cy="292608"/>
          </a:xfrm>
          <a:prstGeom prst="rect">
            <a:avLst/>
          </a:prstGeom>
          <a:noFill/>
        </p:spPr>
        <p:txBody>
          <a:bodyPr wrap="square" lIns="0" tIns="0" rIns="0" bIns="0" anchor="ctr">
            <a:spAutoFit/>
          </a:bodyPr>
          <a:lstStyle/>
          <a:p>
            <a:pPr algn="l"/>
            <a:r>
              <a:rPr sz="1250" b="0">
                <a:solidFill>
                  <a:srgbClr val="333333"/>
                </a:solidFill>
                <a:latin typeface="Arial Unicode MS"/>
              </a:rPr>
              <a:t>업무 목적을 선택한다</a:t>
            </a:r>
          </a:p>
        </p:txBody>
      </p:sp>
      <p:sp>
        <p:nvSpPr>
          <p:cNvPr id="52" name="Oval 51"/>
          <p:cNvSpPr/>
          <p:nvPr/>
        </p:nvSpPr>
        <p:spPr>
          <a:xfrm>
            <a:off x="914400" y="4983480"/>
            <a:ext cx="237744" cy="237744"/>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914400" y="4983480"/>
            <a:ext cx="237744" cy="237744"/>
          </a:xfrm>
          <a:prstGeom prst="rect">
            <a:avLst/>
          </a:prstGeom>
          <a:noFill/>
        </p:spPr>
        <p:txBody>
          <a:bodyPr wrap="square" lIns="0" tIns="0" rIns="0" bIns="0" anchor="ctr">
            <a:spAutoFit/>
          </a:bodyPr>
          <a:lstStyle/>
          <a:p>
            <a:pPr algn="ctr"/>
            <a:r>
              <a:rPr sz="950" b="1">
                <a:solidFill>
                  <a:srgbClr val="FFFFFF"/>
                </a:solidFill>
                <a:latin typeface="Arial Unicode MS"/>
              </a:rPr>
              <a:t>2</a:t>
            </a:r>
          </a:p>
        </p:txBody>
      </p:sp>
      <p:sp>
        <p:nvSpPr>
          <p:cNvPr id="54" name="TextBox 53"/>
          <p:cNvSpPr txBox="1"/>
          <p:nvPr/>
        </p:nvSpPr>
        <p:spPr>
          <a:xfrm>
            <a:off x="1298448" y="4956048"/>
            <a:ext cx="4663440" cy="292608"/>
          </a:xfrm>
          <a:prstGeom prst="rect">
            <a:avLst/>
          </a:prstGeom>
          <a:noFill/>
        </p:spPr>
        <p:txBody>
          <a:bodyPr wrap="square" lIns="0" tIns="0" rIns="0" bIns="0" anchor="ctr">
            <a:spAutoFit/>
          </a:bodyPr>
          <a:lstStyle/>
          <a:p>
            <a:pPr algn="l"/>
            <a:r>
              <a:rPr sz="1250" b="0">
                <a:solidFill>
                  <a:srgbClr val="333333"/>
                </a:solidFill>
                <a:latin typeface="Arial Unicode MS"/>
              </a:rPr>
              <a:t>목록에 있는 정보만 골라 담는다</a:t>
            </a:r>
          </a:p>
        </p:txBody>
      </p:sp>
      <p:sp>
        <p:nvSpPr>
          <p:cNvPr id="55" name="Oval 54"/>
          <p:cNvSpPr/>
          <p:nvPr/>
        </p:nvSpPr>
        <p:spPr>
          <a:xfrm>
            <a:off x="914400" y="5349240"/>
            <a:ext cx="237744" cy="237744"/>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914400" y="5349240"/>
            <a:ext cx="237744" cy="237744"/>
          </a:xfrm>
          <a:prstGeom prst="rect">
            <a:avLst/>
          </a:prstGeom>
          <a:noFill/>
        </p:spPr>
        <p:txBody>
          <a:bodyPr wrap="square" lIns="0" tIns="0" rIns="0" bIns="0" anchor="ctr">
            <a:spAutoFit/>
          </a:bodyPr>
          <a:lstStyle/>
          <a:p>
            <a:pPr algn="ctr"/>
            <a:r>
              <a:rPr sz="950" b="1">
                <a:solidFill>
                  <a:srgbClr val="FFFFFF"/>
                </a:solidFill>
                <a:latin typeface="Arial Unicode MS"/>
              </a:rPr>
              <a:t>3</a:t>
            </a:r>
          </a:p>
        </p:txBody>
      </p:sp>
      <p:sp>
        <p:nvSpPr>
          <p:cNvPr id="57" name="TextBox 56"/>
          <p:cNvSpPr txBox="1"/>
          <p:nvPr/>
        </p:nvSpPr>
        <p:spPr>
          <a:xfrm>
            <a:off x="1298448" y="5321807"/>
            <a:ext cx="4663440" cy="292608"/>
          </a:xfrm>
          <a:prstGeom prst="rect">
            <a:avLst/>
          </a:prstGeom>
          <a:noFill/>
        </p:spPr>
        <p:txBody>
          <a:bodyPr wrap="square" lIns="0" tIns="0" rIns="0" bIns="0" anchor="ctr">
            <a:spAutoFit/>
          </a:bodyPr>
          <a:lstStyle/>
          <a:p>
            <a:pPr algn="l"/>
            <a:r>
              <a:rPr sz="1250" b="0">
                <a:solidFill>
                  <a:srgbClr val="333333"/>
                </a:solidFill>
                <a:latin typeface="Arial Unicode MS"/>
              </a:rPr>
              <a:t>제외·변환한 내용을 검토한다</a:t>
            </a:r>
          </a:p>
        </p:txBody>
      </p:sp>
      <p:sp>
        <p:nvSpPr>
          <p:cNvPr id="58" name="Oval 57"/>
          <p:cNvSpPr/>
          <p:nvPr/>
        </p:nvSpPr>
        <p:spPr>
          <a:xfrm>
            <a:off x="914400" y="5715000"/>
            <a:ext cx="237744" cy="237744"/>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914400" y="5715000"/>
            <a:ext cx="237744" cy="237744"/>
          </a:xfrm>
          <a:prstGeom prst="rect">
            <a:avLst/>
          </a:prstGeom>
          <a:noFill/>
        </p:spPr>
        <p:txBody>
          <a:bodyPr wrap="square" lIns="0" tIns="0" rIns="0" bIns="0" anchor="ctr">
            <a:spAutoFit/>
          </a:bodyPr>
          <a:lstStyle/>
          <a:p>
            <a:pPr algn="ctr"/>
            <a:r>
              <a:rPr sz="950" b="1">
                <a:solidFill>
                  <a:srgbClr val="FFFFFF"/>
                </a:solidFill>
                <a:latin typeface="Arial Unicode MS"/>
              </a:rPr>
              <a:t>4</a:t>
            </a:r>
          </a:p>
        </p:txBody>
      </p:sp>
      <p:sp>
        <p:nvSpPr>
          <p:cNvPr id="60" name="TextBox 59"/>
          <p:cNvSpPr txBox="1"/>
          <p:nvPr/>
        </p:nvSpPr>
        <p:spPr>
          <a:xfrm>
            <a:off x="1298448" y="5687568"/>
            <a:ext cx="4663440" cy="292608"/>
          </a:xfrm>
          <a:prstGeom prst="rect">
            <a:avLst/>
          </a:prstGeom>
          <a:noFill/>
        </p:spPr>
        <p:txBody>
          <a:bodyPr wrap="square" lIns="0" tIns="0" rIns="0" bIns="0" anchor="ctr">
            <a:spAutoFit/>
          </a:bodyPr>
          <a:lstStyle/>
          <a:p>
            <a:pPr algn="l"/>
            <a:r>
              <a:rPr sz="1250" b="0">
                <a:solidFill>
                  <a:srgbClr val="333333"/>
                </a:solidFill>
                <a:latin typeface="Arial Unicode MS"/>
              </a:rPr>
              <a:t>승인된 목적지로만 전달한다</a:t>
            </a:r>
          </a:p>
        </p:txBody>
      </p:sp>
      <p:sp>
        <p:nvSpPr>
          <p:cNvPr id="61" name="Rounded Rectangle 60"/>
          <p:cNvSpPr/>
          <p:nvPr/>
        </p:nvSpPr>
        <p:spPr>
          <a:xfrm>
            <a:off x="6446520" y="4005072"/>
            <a:ext cx="5102352" cy="2286000"/>
          </a:xfrm>
          <a:prstGeom prst="roundRect">
            <a:avLst/>
          </a:prstGeom>
          <a:noFill/>
          <a:ln w="15875">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6720840" y="4187952"/>
            <a:ext cx="4572000" cy="274320"/>
          </a:xfrm>
          <a:prstGeom prst="rect">
            <a:avLst/>
          </a:prstGeom>
          <a:noFill/>
        </p:spPr>
        <p:txBody>
          <a:bodyPr wrap="square" lIns="0" tIns="0" rIns="0" bIns="0" anchor="t">
            <a:spAutoFit/>
          </a:bodyPr>
          <a:lstStyle/>
          <a:p>
            <a:pPr algn="l"/>
            <a:r>
              <a:rPr sz="1300" b="1">
                <a:solidFill>
                  <a:srgbClr val="0A0A0A"/>
                </a:solidFill>
                <a:latin typeface="Arial Unicode MS"/>
              </a:rPr>
              <a:t>실패했을 때 어디로 넘어지나</a:t>
            </a:r>
          </a:p>
        </p:txBody>
      </p:sp>
      <p:sp>
        <p:nvSpPr>
          <p:cNvPr id="63" name="Rounded Rectangle 62"/>
          <p:cNvSpPr/>
          <p:nvPr/>
        </p:nvSpPr>
        <p:spPr>
          <a:xfrm>
            <a:off x="6720840" y="4663440"/>
            <a:ext cx="786384" cy="274320"/>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6720840" y="4663440"/>
            <a:ext cx="786384" cy="274320"/>
          </a:xfrm>
          <a:prstGeom prst="rect">
            <a:avLst/>
          </a:prstGeom>
          <a:noFill/>
        </p:spPr>
        <p:txBody>
          <a:bodyPr wrap="square" lIns="0" tIns="0" rIns="0" bIns="0" anchor="ctr">
            <a:spAutoFit/>
          </a:bodyPr>
          <a:lstStyle/>
          <a:p>
            <a:pPr algn="ctr"/>
            <a:r>
              <a:rPr sz="1100" b="1">
                <a:solidFill>
                  <a:srgbClr val="FFFFFF"/>
                </a:solidFill>
                <a:latin typeface="Arial Unicode MS"/>
              </a:rPr>
              <a:t>빼기</a:t>
            </a:r>
          </a:p>
        </p:txBody>
      </p:sp>
      <p:sp>
        <p:nvSpPr>
          <p:cNvPr id="65" name="TextBox 64"/>
          <p:cNvSpPr txBox="1"/>
          <p:nvPr/>
        </p:nvSpPr>
        <p:spPr>
          <a:xfrm>
            <a:off x="7662672" y="4590288"/>
            <a:ext cx="2103120" cy="420624"/>
          </a:xfrm>
          <a:prstGeom prst="rect">
            <a:avLst/>
          </a:prstGeom>
          <a:noFill/>
        </p:spPr>
        <p:txBody>
          <a:bodyPr wrap="square" lIns="0" tIns="0" rIns="0" bIns="0" anchor="ctr">
            <a:spAutoFit/>
          </a:bodyPr>
          <a:lstStyle/>
          <a:p>
            <a:pPr algn="l"/>
            <a:r>
              <a:rPr sz="1200" b="0">
                <a:solidFill>
                  <a:srgbClr val="333333"/>
                </a:solidFill>
                <a:latin typeface="Arial Unicode MS"/>
              </a:rPr>
              <a:t>탐지가 실패하면</a:t>
            </a:r>
          </a:p>
        </p:txBody>
      </p:sp>
      <p:sp>
        <p:nvSpPr>
          <p:cNvPr id="66" name="TextBox 65"/>
          <p:cNvSpPr txBox="1"/>
          <p:nvPr/>
        </p:nvSpPr>
        <p:spPr>
          <a:xfrm>
            <a:off x="9802368" y="4590288"/>
            <a:ext cx="1737360" cy="420624"/>
          </a:xfrm>
          <a:prstGeom prst="rect">
            <a:avLst/>
          </a:prstGeom>
          <a:noFill/>
        </p:spPr>
        <p:txBody>
          <a:bodyPr wrap="square" lIns="0" tIns="0" rIns="0" bIns="0" anchor="ctr">
            <a:spAutoFit/>
          </a:bodyPr>
          <a:lstStyle/>
          <a:p>
            <a:pPr algn="l"/>
            <a:r>
              <a:rPr sz="1250" b="1">
                <a:solidFill>
                  <a:srgbClr val="0A0A0A"/>
                </a:solidFill>
                <a:latin typeface="Arial Unicode MS"/>
              </a:rPr>
              <a:t>유출</a:t>
            </a:r>
          </a:p>
        </p:txBody>
      </p:sp>
      <p:sp>
        <p:nvSpPr>
          <p:cNvPr id="67" name="Rounded Rectangle 66"/>
          <p:cNvSpPr/>
          <p:nvPr/>
        </p:nvSpPr>
        <p:spPr>
          <a:xfrm>
            <a:off x="6720840" y="5212079"/>
            <a:ext cx="786384" cy="274320"/>
          </a:xfrm>
          <a:prstGeom prst="roundRect">
            <a:avLst/>
          </a:prstGeom>
          <a:solidFill>
            <a:srgbClr val="FFFFFF"/>
          </a:solidFill>
          <a:ln w="12700">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Box 67"/>
          <p:cNvSpPr txBox="1"/>
          <p:nvPr/>
        </p:nvSpPr>
        <p:spPr>
          <a:xfrm>
            <a:off x="6720840" y="5212079"/>
            <a:ext cx="786384" cy="274320"/>
          </a:xfrm>
          <a:prstGeom prst="rect">
            <a:avLst/>
          </a:prstGeom>
          <a:noFill/>
        </p:spPr>
        <p:txBody>
          <a:bodyPr wrap="square" lIns="0" tIns="0" rIns="0" bIns="0" anchor="ctr">
            <a:spAutoFit/>
          </a:bodyPr>
          <a:lstStyle/>
          <a:p>
            <a:pPr algn="ctr"/>
            <a:r>
              <a:rPr sz="1100" b="1">
                <a:solidFill>
                  <a:srgbClr val="0A0A0A"/>
                </a:solidFill>
                <a:latin typeface="Arial Unicode MS"/>
              </a:rPr>
              <a:t>담기</a:t>
            </a:r>
          </a:p>
        </p:txBody>
      </p:sp>
      <p:sp>
        <p:nvSpPr>
          <p:cNvPr id="69" name="TextBox 68"/>
          <p:cNvSpPr txBox="1"/>
          <p:nvPr/>
        </p:nvSpPr>
        <p:spPr>
          <a:xfrm>
            <a:off x="7662672" y="5138927"/>
            <a:ext cx="2103120" cy="420624"/>
          </a:xfrm>
          <a:prstGeom prst="rect">
            <a:avLst/>
          </a:prstGeom>
          <a:noFill/>
        </p:spPr>
        <p:txBody>
          <a:bodyPr wrap="square" lIns="0" tIns="0" rIns="0" bIns="0" anchor="ctr">
            <a:spAutoFit/>
          </a:bodyPr>
          <a:lstStyle/>
          <a:p>
            <a:pPr algn="l"/>
            <a:r>
              <a:rPr sz="1200" b="0">
                <a:solidFill>
                  <a:srgbClr val="333333"/>
                </a:solidFill>
                <a:latin typeface="Arial Unicode MS"/>
              </a:rPr>
              <a:t>정의가 실패하면</a:t>
            </a:r>
          </a:p>
        </p:txBody>
      </p:sp>
      <p:sp>
        <p:nvSpPr>
          <p:cNvPr id="70" name="TextBox 69"/>
          <p:cNvSpPr txBox="1"/>
          <p:nvPr/>
        </p:nvSpPr>
        <p:spPr>
          <a:xfrm>
            <a:off x="9802368" y="5138927"/>
            <a:ext cx="1737360" cy="420624"/>
          </a:xfrm>
          <a:prstGeom prst="rect">
            <a:avLst/>
          </a:prstGeom>
          <a:noFill/>
        </p:spPr>
        <p:txBody>
          <a:bodyPr wrap="square" lIns="0" tIns="0" rIns="0" bIns="0" anchor="ctr">
            <a:spAutoFit/>
          </a:bodyPr>
          <a:lstStyle/>
          <a:p>
            <a:pPr algn="l"/>
            <a:r>
              <a:rPr sz="1250" b="1">
                <a:solidFill>
                  <a:srgbClr val="0A0A0A"/>
                </a:solidFill>
                <a:latin typeface="Arial Unicode MS"/>
              </a:rPr>
              <a:t>답변 품질 저하</a:t>
            </a:r>
          </a:p>
        </p:txBody>
      </p:sp>
      <p:sp>
        <p:nvSpPr>
          <p:cNvPr id="71" name="TextBox 70"/>
          <p:cNvSpPr txBox="1"/>
          <p:nvPr/>
        </p:nvSpPr>
        <p:spPr>
          <a:xfrm>
            <a:off x="6720840" y="5632704"/>
            <a:ext cx="4572000" cy="530352"/>
          </a:xfrm>
          <a:prstGeom prst="rect">
            <a:avLst/>
          </a:prstGeom>
          <a:noFill/>
        </p:spPr>
        <p:txBody>
          <a:bodyPr wrap="square" lIns="0" tIns="0" rIns="0" bIns="0" anchor="t">
            <a:spAutoFit/>
          </a:bodyPr>
          <a:lstStyle/>
          <a:p>
            <a:pPr algn="l"/>
            <a:r>
              <a:rPr sz="1150" b="1">
                <a:solidFill>
                  <a:srgbClr val="0A0A0A"/>
                </a:solidFill>
                <a:latin typeface="Arial Unicode MS"/>
              </a:rPr>
              <a:t>담기의 대가 — </a:t>
            </a:r>
            <a:r>
              <a:rPr sz="1150" b="0">
                <a:solidFill>
                  <a:srgbClr val="333333"/>
                </a:solidFill>
                <a:latin typeface="Arial Unicode MS"/>
              </a:rPr>
              <a:t>업무마다 목록을 만들고 관리해야 한다.</a:t>
            </a:r>
          </a:p>
          <a:p>
            <a:pPr algn="l"/>
            <a:r>
              <a:rPr sz="1150" b="0">
                <a:solidFill>
                  <a:srgbClr val="333333"/>
                </a:solidFill>
                <a:latin typeface="Arial Unicode MS"/>
              </a:rPr>
              <a:t>장애마다 보는 정보가 비슷한지가 관건이다.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9692640" cy="548640"/>
          </a:xfrm>
          <a:prstGeom prst="rect">
            <a:avLst/>
          </a:prstGeom>
          <a:noFill/>
        </p:spPr>
        <p:txBody>
          <a:bodyPr wrap="square" lIns="0" tIns="0" rIns="0" bIns="0" anchor="ctr">
            <a:spAutoFit/>
          </a:bodyPr>
          <a:lstStyle/>
          <a:p>
            <a:pPr algn="l"/>
            <a:r>
              <a:rPr sz="3000" b="1">
                <a:solidFill>
                  <a:srgbClr val="FFFFFF"/>
                </a:solidFill>
                <a:latin typeface="Arial Unicode MS"/>
              </a:rPr>
              <a:t>앞으로의 계획</a:t>
            </a:r>
          </a:p>
        </p:txBody>
      </p:sp>
      <p:sp>
        <p:nvSpPr>
          <p:cNvPr id="3" name="TextBox 2"/>
          <p:cNvSpPr txBox="1"/>
          <p:nvPr/>
        </p:nvSpPr>
        <p:spPr>
          <a:xfrm>
            <a:off x="10607040" y="475488"/>
            <a:ext cx="941832" cy="548640"/>
          </a:xfrm>
          <a:prstGeom prst="rect">
            <a:avLst/>
          </a:prstGeom>
          <a:noFill/>
        </p:spPr>
        <p:txBody>
          <a:bodyPr wrap="square" lIns="0" tIns="0" rIns="0" bIns="0" anchor="ctr">
            <a:spAutoFit/>
          </a:bodyPr>
          <a:lstStyle/>
          <a:p>
            <a:pPr algn="r"/>
            <a:r>
              <a:rPr sz="1300" b="1">
                <a:solidFill>
                  <a:srgbClr val="707070"/>
                </a:solidFill>
                <a:latin typeface="Arial Unicode MS"/>
              </a:rPr>
              <a:t>04</a:t>
            </a:r>
          </a:p>
        </p:txBody>
      </p:sp>
      <p:sp>
        <p:nvSpPr>
          <p:cNvPr id="4" name="TextBox 3"/>
          <p:cNvSpPr txBox="1"/>
          <p:nvPr/>
        </p:nvSpPr>
        <p:spPr>
          <a:xfrm>
            <a:off x="640080" y="1371600"/>
            <a:ext cx="10908792" cy="1280160"/>
          </a:xfrm>
          <a:prstGeom prst="rect">
            <a:avLst/>
          </a:prstGeom>
          <a:noFill/>
        </p:spPr>
        <p:txBody>
          <a:bodyPr wrap="square" lIns="0" tIns="0" rIns="0" bIns="0" anchor="t">
            <a:spAutoFit/>
          </a:bodyPr>
          <a:lstStyle/>
          <a:p>
            <a:pPr algn="l"/>
            <a:r>
              <a:rPr sz="2400" b="1">
                <a:solidFill>
                  <a:srgbClr val="FFFFFF"/>
                </a:solidFill>
                <a:latin typeface="Arial Unicode MS"/>
              </a:rPr>
              <a:t>업무마다 어떤 정보를 보낼지 목록을 정하고,</a:t>
            </a:r>
          </a:p>
          <a:p>
            <a:pPr algn="l"/>
            <a:r>
              <a:rPr sz="2400" b="1">
                <a:solidFill>
                  <a:srgbClr val="FFFFFF"/>
                </a:solidFill>
                <a:latin typeface="Arial Unicode MS"/>
              </a:rPr>
              <a:t>그 목록대로만 보내도 원인을 제대로 찾는지 확인해볼 예정입니다.</a:t>
            </a:r>
          </a:p>
        </p:txBody>
      </p:sp>
      <p:sp>
        <p:nvSpPr>
          <p:cNvPr id="5" name="TextBox 4"/>
          <p:cNvSpPr txBox="1"/>
          <p:nvPr/>
        </p:nvSpPr>
        <p:spPr>
          <a:xfrm>
            <a:off x="640080" y="2724912"/>
            <a:ext cx="10908792" cy="310896"/>
          </a:xfrm>
          <a:prstGeom prst="rect">
            <a:avLst/>
          </a:prstGeom>
          <a:noFill/>
        </p:spPr>
        <p:txBody>
          <a:bodyPr wrap="square" lIns="0" tIns="0" rIns="0" bIns="0" anchor="t">
            <a:spAutoFit/>
          </a:bodyPr>
          <a:lstStyle/>
          <a:p>
            <a:pPr algn="l"/>
            <a:r>
              <a:rPr sz="1300" b="0">
                <a:solidFill>
                  <a:srgbClr val="9B9B9B"/>
                </a:solidFill>
                <a:latin typeface="Arial Unicode MS"/>
              </a:rPr>
              <a:t>목록을 정하는 곳은 많습니다. 그런데 그 목록으로 충분한지 재본 곳은 찾지 못했습니다.</a:t>
            </a:r>
          </a:p>
        </p:txBody>
      </p:sp>
      <p:sp>
        <p:nvSpPr>
          <p:cNvPr id="6" name="TextBox 5"/>
          <p:cNvSpPr txBox="1"/>
          <p:nvPr/>
        </p:nvSpPr>
        <p:spPr>
          <a:xfrm>
            <a:off x="640080" y="3310128"/>
            <a:ext cx="10908792" cy="274320"/>
          </a:xfrm>
          <a:prstGeom prst="rect">
            <a:avLst/>
          </a:prstGeom>
          <a:noFill/>
        </p:spPr>
        <p:txBody>
          <a:bodyPr wrap="square" lIns="0" tIns="0" rIns="0" bIns="0" anchor="t">
            <a:spAutoFit/>
          </a:bodyPr>
          <a:lstStyle/>
          <a:p>
            <a:pPr algn="l"/>
            <a:r>
              <a:rPr sz="1300" b="1">
                <a:solidFill>
                  <a:srgbClr val="9B9B9B"/>
                </a:solidFill>
                <a:latin typeface="Arial Unicode MS"/>
              </a:rPr>
              <a:t>어떻게 확인하는가</a:t>
            </a:r>
          </a:p>
        </p:txBody>
      </p:sp>
      <p:sp>
        <p:nvSpPr>
          <p:cNvPr id="7" name="Rounded Rectangle 6"/>
          <p:cNvSpPr/>
          <p:nvPr/>
        </p:nvSpPr>
        <p:spPr>
          <a:xfrm>
            <a:off x="640080" y="3657600"/>
            <a:ext cx="10908792" cy="475488"/>
          </a:xfrm>
          <a:prstGeom prst="round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896112" y="3758184"/>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96112" y="3758184"/>
            <a:ext cx="274320" cy="274320"/>
          </a:xfrm>
          <a:prstGeom prst="rect">
            <a:avLst/>
          </a:prstGeom>
          <a:noFill/>
        </p:spPr>
        <p:txBody>
          <a:bodyPr wrap="square" lIns="0" tIns="0" rIns="0" bIns="0" anchor="ctr">
            <a:spAutoFit/>
          </a:bodyPr>
          <a:lstStyle/>
          <a:p>
            <a:pPr algn="ctr"/>
            <a:r>
              <a:rPr sz="1100" b="1">
                <a:solidFill>
                  <a:srgbClr val="0A0A0A"/>
                </a:solidFill>
                <a:latin typeface="Arial Unicode MS"/>
              </a:rPr>
              <a:t>1</a:t>
            </a:r>
          </a:p>
        </p:txBody>
      </p:sp>
      <p:sp>
        <p:nvSpPr>
          <p:cNvPr id="10" name="TextBox 9"/>
          <p:cNvSpPr txBox="1"/>
          <p:nvPr/>
        </p:nvSpPr>
        <p:spPr>
          <a:xfrm>
            <a:off x="1371600" y="3657600"/>
            <a:ext cx="4572000" cy="475488"/>
          </a:xfrm>
          <a:prstGeom prst="rect">
            <a:avLst/>
          </a:prstGeom>
          <a:noFill/>
        </p:spPr>
        <p:txBody>
          <a:bodyPr wrap="square" lIns="0" tIns="0" rIns="0" bIns="0" anchor="ctr">
            <a:spAutoFit/>
          </a:bodyPr>
          <a:lstStyle/>
          <a:p>
            <a:pPr algn="l"/>
            <a:r>
              <a:rPr sz="1450" b="1">
                <a:solidFill>
                  <a:srgbClr val="FFFFFF"/>
                </a:solidFill>
                <a:latin typeface="Arial Unicode MS"/>
              </a:rPr>
              <a:t>같은 장애 로그를 둘로 나눈다</a:t>
            </a:r>
          </a:p>
        </p:txBody>
      </p:sp>
      <p:sp>
        <p:nvSpPr>
          <p:cNvPr id="11" name="TextBox 10"/>
          <p:cNvSpPr txBox="1"/>
          <p:nvPr/>
        </p:nvSpPr>
        <p:spPr>
          <a:xfrm>
            <a:off x="6035040" y="3657600"/>
            <a:ext cx="5303520" cy="475488"/>
          </a:xfrm>
          <a:prstGeom prst="rect">
            <a:avLst/>
          </a:prstGeom>
          <a:noFill/>
        </p:spPr>
        <p:txBody>
          <a:bodyPr wrap="square" lIns="0" tIns="0" rIns="0" bIns="0" anchor="ctr">
            <a:spAutoFit/>
          </a:bodyPr>
          <a:lstStyle/>
          <a:p>
            <a:pPr algn="l"/>
            <a:r>
              <a:rPr sz="1200" b="0">
                <a:solidFill>
                  <a:srgbClr val="707070"/>
                </a:solidFill>
                <a:latin typeface="Arial Unicode MS"/>
              </a:rPr>
              <a:t>다 보낸 것  /  목록대로만 보낸 것</a:t>
            </a:r>
          </a:p>
        </p:txBody>
      </p:sp>
      <p:sp>
        <p:nvSpPr>
          <p:cNvPr id="12" name="Rounded Rectangle 11"/>
          <p:cNvSpPr/>
          <p:nvPr/>
        </p:nvSpPr>
        <p:spPr>
          <a:xfrm>
            <a:off x="640080" y="4224528"/>
            <a:ext cx="10908792" cy="475488"/>
          </a:xfrm>
          <a:prstGeom prst="round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896112" y="4325112"/>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96112" y="4325112"/>
            <a:ext cx="274320" cy="274320"/>
          </a:xfrm>
          <a:prstGeom prst="rect">
            <a:avLst/>
          </a:prstGeom>
          <a:noFill/>
        </p:spPr>
        <p:txBody>
          <a:bodyPr wrap="square" lIns="0" tIns="0" rIns="0" bIns="0" anchor="ctr">
            <a:spAutoFit/>
          </a:bodyPr>
          <a:lstStyle/>
          <a:p>
            <a:pPr algn="ctr"/>
            <a:r>
              <a:rPr sz="1100" b="1">
                <a:solidFill>
                  <a:srgbClr val="0A0A0A"/>
                </a:solidFill>
                <a:latin typeface="Arial Unicode MS"/>
              </a:rPr>
              <a:t>2</a:t>
            </a:r>
          </a:p>
        </p:txBody>
      </p:sp>
      <p:sp>
        <p:nvSpPr>
          <p:cNvPr id="15" name="TextBox 14"/>
          <p:cNvSpPr txBox="1"/>
          <p:nvPr/>
        </p:nvSpPr>
        <p:spPr>
          <a:xfrm>
            <a:off x="1371600" y="4224528"/>
            <a:ext cx="4572000" cy="475488"/>
          </a:xfrm>
          <a:prstGeom prst="rect">
            <a:avLst/>
          </a:prstGeom>
          <a:noFill/>
        </p:spPr>
        <p:txBody>
          <a:bodyPr wrap="square" lIns="0" tIns="0" rIns="0" bIns="0" anchor="ctr">
            <a:spAutoFit/>
          </a:bodyPr>
          <a:lstStyle/>
          <a:p>
            <a:pPr algn="l"/>
            <a:r>
              <a:rPr sz="1450" b="1">
                <a:solidFill>
                  <a:srgbClr val="FFFFFF"/>
                </a:solidFill>
                <a:latin typeface="Arial Unicode MS"/>
              </a:rPr>
              <a:t>둘 다 같은 AI에 넣는다</a:t>
            </a:r>
          </a:p>
        </p:txBody>
      </p:sp>
      <p:sp>
        <p:nvSpPr>
          <p:cNvPr id="16" name="TextBox 15"/>
          <p:cNvSpPr txBox="1"/>
          <p:nvPr/>
        </p:nvSpPr>
        <p:spPr>
          <a:xfrm>
            <a:off x="6035040" y="4224528"/>
            <a:ext cx="5303520" cy="475488"/>
          </a:xfrm>
          <a:prstGeom prst="rect">
            <a:avLst/>
          </a:prstGeom>
          <a:noFill/>
        </p:spPr>
        <p:txBody>
          <a:bodyPr wrap="square" lIns="0" tIns="0" rIns="0" bIns="0" anchor="ctr">
            <a:spAutoFit/>
          </a:bodyPr>
          <a:lstStyle/>
          <a:p>
            <a:pPr algn="l"/>
            <a:r>
              <a:rPr sz="1200" b="0">
                <a:solidFill>
                  <a:srgbClr val="707070"/>
                </a:solidFill>
                <a:latin typeface="Arial Unicode MS"/>
              </a:rPr>
              <a:t>모델·질문·설정 모두 동일</a:t>
            </a:r>
          </a:p>
        </p:txBody>
      </p:sp>
      <p:sp>
        <p:nvSpPr>
          <p:cNvPr id="17" name="Rounded Rectangle 16"/>
          <p:cNvSpPr/>
          <p:nvPr/>
        </p:nvSpPr>
        <p:spPr>
          <a:xfrm>
            <a:off x="640080" y="4791456"/>
            <a:ext cx="10908792" cy="475488"/>
          </a:xfrm>
          <a:prstGeom prst="round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896112" y="48920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96112" y="4892040"/>
            <a:ext cx="274320" cy="274320"/>
          </a:xfrm>
          <a:prstGeom prst="rect">
            <a:avLst/>
          </a:prstGeom>
          <a:noFill/>
        </p:spPr>
        <p:txBody>
          <a:bodyPr wrap="square" lIns="0" tIns="0" rIns="0" bIns="0" anchor="ctr">
            <a:spAutoFit/>
          </a:bodyPr>
          <a:lstStyle/>
          <a:p>
            <a:pPr algn="ctr"/>
            <a:r>
              <a:rPr sz="1100" b="1">
                <a:solidFill>
                  <a:srgbClr val="0A0A0A"/>
                </a:solidFill>
                <a:latin typeface="Arial Unicode MS"/>
              </a:rPr>
              <a:t>3</a:t>
            </a:r>
          </a:p>
        </p:txBody>
      </p:sp>
      <p:sp>
        <p:nvSpPr>
          <p:cNvPr id="20" name="TextBox 19"/>
          <p:cNvSpPr txBox="1"/>
          <p:nvPr/>
        </p:nvSpPr>
        <p:spPr>
          <a:xfrm>
            <a:off x="1371600" y="4791456"/>
            <a:ext cx="4572000" cy="475488"/>
          </a:xfrm>
          <a:prstGeom prst="rect">
            <a:avLst/>
          </a:prstGeom>
          <a:noFill/>
        </p:spPr>
        <p:txBody>
          <a:bodyPr wrap="square" lIns="0" tIns="0" rIns="0" bIns="0" anchor="ctr">
            <a:spAutoFit/>
          </a:bodyPr>
          <a:lstStyle/>
          <a:p>
            <a:pPr algn="l"/>
            <a:r>
              <a:rPr sz="1450" b="1">
                <a:solidFill>
                  <a:srgbClr val="FFFFFF"/>
                </a:solidFill>
                <a:latin typeface="Arial Unicode MS"/>
              </a:rPr>
              <a:t>원인을 맞게 찾는지 비교한다</a:t>
            </a:r>
          </a:p>
        </p:txBody>
      </p:sp>
      <p:sp>
        <p:nvSpPr>
          <p:cNvPr id="21" name="TextBox 20"/>
          <p:cNvSpPr txBox="1"/>
          <p:nvPr/>
        </p:nvSpPr>
        <p:spPr>
          <a:xfrm>
            <a:off x="6035040" y="4791456"/>
            <a:ext cx="5303520" cy="475488"/>
          </a:xfrm>
          <a:prstGeom prst="rect">
            <a:avLst/>
          </a:prstGeom>
          <a:noFill/>
        </p:spPr>
        <p:txBody>
          <a:bodyPr wrap="square" lIns="0" tIns="0" rIns="0" bIns="0" anchor="ctr">
            <a:spAutoFit/>
          </a:bodyPr>
          <a:lstStyle/>
          <a:p>
            <a:pPr algn="l"/>
            <a:r>
              <a:rPr sz="1200" b="0">
                <a:solidFill>
                  <a:srgbClr val="707070"/>
                </a:solidFill>
                <a:latin typeface="Arial Unicode MS"/>
              </a:rPr>
              <a:t>목록대로만 보내도 찾으면 줄여도 된다는 뜻</a:t>
            </a:r>
          </a:p>
        </p:txBody>
      </p:sp>
      <p:sp>
        <p:nvSpPr>
          <p:cNvPr id="22" name="Rounded Rectangle 21"/>
          <p:cNvSpPr/>
          <p:nvPr/>
        </p:nvSpPr>
        <p:spPr>
          <a:xfrm>
            <a:off x="640080" y="5541264"/>
            <a:ext cx="10908792" cy="676656"/>
          </a:xfrm>
          <a:prstGeom prst="roundRec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60120" y="5541264"/>
            <a:ext cx="10241280" cy="676656"/>
          </a:xfrm>
          <a:prstGeom prst="rect">
            <a:avLst/>
          </a:prstGeom>
          <a:noFill/>
        </p:spPr>
        <p:txBody>
          <a:bodyPr wrap="square" lIns="0" tIns="0" rIns="0" bIns="0" anchor="ctr">
            <a:spAutoFit/>
          </a:bodyPr>
          <a:lstStyle/>
          <a:p>
            <a:pPr algn="l"/>
            <a:r>
              <a:rPr sz="1300" b="1">
                <a:solidFill>
                  <a:srgbClr val="9B9B9B"/>
                </a:solidFill>
                <a:latin typeface="Arial Unicode MS"/>
              </a:rPr>
              <a:t>판정   </a:t>
            </a:r>
            <a:r>
              <a:rPr sz="1500" b="0">
                <a:solidFill>
                  <a:srgbClr val="FFFFFF"/>
                </a:solidFill>
                <a:latin typeface="Arial Unicode MS"/>
              </a:rPr>
              <a:t>목록대로만 보내도 원인이 잡히면 담기가 성립합니다. 안 잡히면 담기를 쓸 이유가 없습니다.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760</Words>
  <Application>Microsoft Macintosh PowerPoint</Application>
  <PresentationFormat>와이드스크린</PresentationFormat>
  <Paragraphs>84</Paragraphs>
  <Slides>4</Slides>
  <Notes>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4</vt:i4>
      </vt:variant>
    </vt:vector>
  </HeadingPairs>
  <TitlesOfParts>
    <vt:vector size="9" baseType="lpstr">
      <vt:lpstr>맑은 고딕</vt:lpstr>
      <vt:lpstr>Arial Unicode MS</vt:lpstr>
      <vt:lpstr>Arial</vt:lpstr>
      <vt:lpstr>Calibri</vt:lpstr>
      <vt:lpstr>Office Theme</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generated using python-pptx</dc:description>
  <cp:lastModifiedBy>Microsoft Office User</cp:lastModifiedBy>
  <cp:revision>3</cp:revision>
  <dcterms:created xsi:type="dcterms:W3CDTF">2013-01-27T09:14:16Z</dcterms:created>
  <dcterms:modified xsi:type="dcterms:W3CDTF">2026-09-22T14:55:10Z</dcterms:modified>
  <cp:category/>
</cp:coreProperties>
</file>